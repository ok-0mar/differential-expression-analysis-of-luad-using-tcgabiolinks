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5" r:id="rId1"/>
  </p:sldMasterIdLst>
  <p:notesMasterIdLst>
    <p:notesMasterId r:id="rId21"/>
  </p:notesMasterIdLst>
  <p:sldIdLst>
    <p:sldId id="256" r:id="rId2"/>
    <p:sldId id="257" r:id="rId3"/>
    <p:sldId id="259" r:id="rId4"/>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19"/>
    <p:sldId id="27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3DFD10-116A-41D3-AE18-5561DE92480C}" type="datetimeFigureOut">
              <a:rPr lang="en-US" smtClean="0"/>
              <a:t>9/7/2026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0B2813-F966-4EA2-8058-39942C579EE9}" type="slidenum">
              <a:rPr lang="en-US" smtClean="0"/>
              <a:t>‹#›</a:t>
            </a:fld>
            <a:endParaRPr lang="en-US"/>
          </a:p>
        </p:txBody>
      </p:sp>
    </p:spTree>
    <p:extLst>
      <p:ext uri="{BB962C8B-B14F-4D97-AF65-F5344CB8AC3E}">
        <p14:creationId xmlns:p14="http://schemas.microsoft.com/office/powerpoint/2010/main" val="29173101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A180A8E-4668-486A-95D0-DBD6BDD7C43F}"/>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3" name="Straight Connector 12">
            <a:extLst>
              <a:ext uri="{FF2B5EF4-FFF2-40B4-BE49-F238E27FC236}">
                <a16:creationId xmlns:a16="http://schemas.microsoft.com/office/drawing/2014/main" id="{1CBB8E81-5147-5506-5F4B-DBC0E7AF26E1}"/>
              </a:ext>
              <a:ext uri="{C183D7F6-B498-43B3-948B-1728B52AA6E4}">
                <adec:decorative xmlns:adec="http://schemas.microsoft.com/office/drawing/2017/decorative" val="1"/>
              </a:ext>
            </a:extLst>
          </p:cNvPr>
          <p:cNvCxnSpPr>
            <a:cxnSpLocks/>
          </p:cNvCxnSpPr>
          <p:nvPr/>
        </p:nvCxnSpPr>
        <p:spPr>
          <a:xfrm>
            <a:off x="11506200" y="637890"/>
            <a:ext cx="0" cy="557241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4852B95-CFB8-EEBE-3973-7363B361118A}"/>
              </a:ext>
              <a:ext uri="{C183D7F6-B498-43B3-948B-1728B52AA6E4}">
                <adec:decorative xmlns:adec="http://schemas.microsoft.com/office/drawing/2017/decorative" val="1"/>
              </a:ext>
            </a:extLst>
          </p:cNvPr>
          <p:cNvCxnSpPr>
            <a:cxnSpLocks/>
          </p:cNvCxnSpPr>
          <p:nvPr/>
        </p:nvCxnSpPr>
        <p:spPr>
          <a:xfrm>
            <a:off x="696332" y="768924"/>
            <a:ext cx="0" cy="480060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0" name="Picture Placeholder 9">
            <a:extLst>
              <a:ext uri="{FF2B5EF4-FFF2-40B4-BE49-F238E27FC236}">
                <a16:creationId xmlns:a16="http://schemas.microsoft.com/office/drawing/2014/main" id="{F1A205B3-F30A-B2B0-2AFF-593443D32773}"/>
              </a:ext>
              <a:ext uri="{C183D7F6-B498-43B3-948B-1728B52AA6E4}">
                <adec:decorative xmlns:adec="http://schemas.microsoft.com/office/drawing/2017/decorative" val="0"/>
              </a:ext>
            </a:extLst>
          </p:cNvPr>
          <p:cNvSpPr>
            <a:spLocks noGrp="1"/>
          </p:cNvSpPr>
          <p:nvPr>
            <p:ph type="pic" sz="quarter" idx="14" hasCustomPrompt="1"/>
          </p:nvPr>
        </p:nvSpPr>
        <p:spPr>
          <a:xfrm>
            <a:off x="5503863" y="1354138"/>
            <a:ext cx="5322887" cy="4481512"/>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914400" y="831992"/>
            <a:ext cx="5897880" cy="4258956"/>
          </a:xfrm>
          <a:solidFill>
            <a:schemeClr val="bg2"/>
          </a:solidFill>
        </p:spPr>
        <p:txBody>
          <a:bodyPr lIns="182880" rIns="228600" bIns="91440" anchor="b">
            <a:normAutofit/>
          </a:bodyPr>
          <a:lstStyle>
            <a:lvl1pPr algn="r">
              <a:lnSpc>
                <a:spcPct val="80000"/>
              </a:lnSpc>
              <a:defRPr sz="7200">
                <a:solidFill>
                  <a:schemeClr val="accent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605431" y="5372809"/>
            <a:ext cx="2364946" cy="909119"/>
          </a:xfrm>
          <a:solidFill>
            <a:schemeClr val="bg2"/>
          </a:solidFill>
        </p:spPr>
        <p:txBody>
          <a:bodyPr vert="horz" lIns="91440" tIns="45720" rIns="91440" bIns="45720" rtlCol="0" anchor="b">
            <a:normAutofit/>
          </a:bodyPr>
          <a:lstStyle>
            <a:lvl1pPr marL="0" indent="0">
              <a:lnSpc>
                <a:spcPct val="100000"/>
              </a:lnSpc>
              <a:buNone/>
              <a:defRPr lang="en-US" sz="1600" cap="all" baseline="0" dirty="0">
                <a:solidFill>
                  <a:schemeClr val="accent3">
                    <a:lumMod val="75000"/>
                  </a:schemeClr>
                </a:solidFill>
                <a:latin typeface="+mj-lt"/>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547529" y="612251"/>
            <a:ext cx="2070397" cy="518965"/>
          </a:xfrm>
          <a:solidFill>
            <a:schemeClr val="bg2"/>
          </a:solidFill>
        </p:spPr>
        <p:txBody>
          <a:bodyPr anchor="t"/>
          <a:lstStyle>
            <a:lvl1pPr algn="r">
              <a:defRPr sz="1050"/>
            </a:lvl1pPr>
          </a:lstStyle>
          <a:p>
            <a:endParaRPr lang="en-US"/>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rot="5400000">
            <a:off x="10897326" y="5229935"/>
            <a:ext cx="1223795" cy="365125"/>
          </a:xfrm>
          <a:solidFill>
            <a:schemeClr val="bg2"/>
          </a:solidFill>
        </p:spPr>
        <p:txBody>
          <a:bodyPr rIns="182880"/>
          <a:lstStyle/>
          <a:p>
            <a:r>
              <a:rPr lang="en-US"/>
              <a:t>9/4/2026</a:t>
            </a:r>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xfrm>
            <a:off x="11201400" y="6029866"/>
            <a:ext cx="461438" cy="365125"/>
          </a:xfrm>
          <a:solidFill>
            <a:schemeClr val="bg2"/>
          </a:solidFill>
        </p:spPr>
        <p:txBody>
          <a:bodyPr/>
          <a:lstStyle/>
          <a:p>
            <a:fld id="{2A70D941-57F8-4881-9B87-49647FCDA0D6}" type="slidenum">
              <a:rPr lang="en-US" smtClean="0"/>
              <a:t>‹#›</a:t>
            </a:fld>
            <a:endParaRPr lang="en-US"/>
          </a:p>
        </p:txBody>
      </p:sp>
    </p:spTree>
    <p:extLst>
      <p:ext uri="{BB962C8B-B14F-4D97-AF65-F5344CB8AC3E}">
        <p14:creationId xmlns:p14="http://schemas.microsoft.com/office/powerpoint/2010/main" val="1227152535"/>
      </p:ext>
    </p:extLst>
  </p:cSld>
  <p:clrMapOvr>
    <a:masterClrMapping/>
  </p:clrMapOvr>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2986" y="265728"/>
            <a:ext cx="10981137" cy="1325563"/>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2986" y="1736176"/>
            <a:ext cx="10981137" cy="41988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r>
              <a:rPr lang="en-US"/>
              <a:t>9/4/2026</a:t>
            </a:r>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A70D941-57F8-4881-9B87-49647FCDA0D6}" type="slidenum">
              <a:rPr lang="en-US" smtClean="0"/>
              <a:t>‹#›</a:t>
            </a:fld>
            <a:endParaRPr lang="en-US"/>
          </a:p>
        </p:txBody>
      </p:sp>
    </p:spTree>
    <p:extLst>
      <p:ext uri="{BB962C8B-B14F-4D97-AF65-F5344CB8AC3E}">
        <p14:creationId xmlns:p14="http://schemas.microsoft.com/office/powerpoint/2010/main" val="9844173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90397"/>
            <a:ext cx="0" cy="4396003"/>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3" name="Picture Placeholder 12">
            <a:extLst>
              <a:ext uri="{FF2B5EF4-FFF2-40B4-BE49-F238E27FC236}">
                <a16:creationId xmlns:a16="http://schemas.microsoft.com/office/drawing/2014/main" id="{FD120947-D69A-84F3-7617-0239E8E5C7F8}"/>
              </a:ext>
              <a:ext uri="{C183D7F6-B498-43B3-948B-1728B52AA6E4}">
                <adec:decorative xmlns:adec="http://schemas.microsoft.com/office/drawing/2017/decorative" val="0"/>
              </a:ext>
            </a:extLst>
          </p:cNvPr>
          <p:cNvSpPr>
            <a:spLocks noGrp="1"/>
          </p:cNvSpPr>
          <p:nvPr>
            <p:ph type="pic" sz="quarter" idx="13" hasCustomPrompt="1"/>
          </p:nvPr>
        </p:nvSpPr>
        <p:spPr>
          <a:xfrm>
            <a:off x="-791" y="1371600"/>
            <a:ext cx="6706392" cy="54864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4133850" y="685799"/>
            <a:ext cx="6373670" cy="2743201"/>
          </a:xfrm>
          <a:solidFill>
            <a:schemeClr val="bg2"/>
          </a:solidFill>
        </p:spPr>
        <p:txBody>
          <a:bodyPr vert="horz" lIns="182880" tIns="45720" rIns="91440" bIns="91440" rtlCol="0" anchor="b">
            <a:normAutofit/>
          </a:bodyPr>
          <a:lstStyle>
            <a:lvl1pPr>
              <a:lnSpc>
                <a:spcPct val="80000"/>
              </a:lnSpc>
              <a:defRPr lang="en-US" sz="68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7500457" y="5570290"/>
            <a:ext cx="4114799" cy="699518"/>
          </a:xfrm>
        </p:spPr>
        <p:txBody>
          <a:bodyPr vert="horz" lIns="91440" tIns="45720" rIns="91440" bIns="45720" rtlCol="0" anchor="b">
            <a:normAutofit/>
          </a:bodyPr>
          <a:lstStyle>
            <a:lvl1pPr marL="0" indent="0" algn="r">
              <a:buNone/>
              <a:defRPr lang="en-US" sz="1600" cap="all" baseline="0" dirty="0">
                <a:solidFill>
                  <a:schemeClr val="accent3">
                    <a:lumMod val="75000"/>
                  </a:schemeClr>
                </a:solidFill>
                <a:latin typeface="+mj-lt"/>
              </a:defRPr>
            </a:lvl1pPr>
          </a:lstStyle>
          <a:p>
            <a:pPr lvl="0"/>
            <a:r>
              <a:rPr lang="en-US"/>
              <a:t>Click to edit Master subtitle style</a:t>
            </a:r>
            <a:endParaRPr lang="en-US" dirty="0"/>
          </a:p>
        </p:txBody>
      </p:sp>
      <p:sp>
        <p:nvSpPr>
          <p:cNvPr id="6" name="Slide Number Placeholder 5">
            <a:extLst>
              <a:ext uri="{FF2B5EF4-FFF2-40B4-BE49-F238E27FC236}">
                <a16:creationId xmlns:a16="http://schemas.microsoft.com/office/drawing/2014/main" id="{B945FE83-3A40-27CC-D68D-E889297B8CA2}"/>
              </a:ext>
            </a:extLst>
          </p:cNvPr>
          <p:cNvSpPr>
            <a:spLocks noGrp="1"/>
          </p:cNvSpPr>
          <p:nvPr>
            <p:ph type="sldNum" sz="quarter" idx="14"/>
          </p:nvPr>
        </p:nvSpPr>
        <p:spPr>
          <a:xfrm>
            <a:off x="145716" y="508084"/>
            <a:ext cx="429372" cy="365125"/>
          </a:xfrm>
          <a:noFill/>
        </p:spPr>
        <p:txBody>
          <a:bodyPr/>
          <a:lstStyle/>
          <a:p>
            <a:fld id="{2A70D941-57F8-4881-9B87-49647FCDA0D6}" type="slidenum">
              <a:rPr lang="en-US" smtClean="0"/>
              <a:t>‹#›</a:t>
            </a:fld>
            <a:endParaRPr lang="en-US"/>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a:off x="603663" y="508084"/>
            <a:ext cx="1203320" cy="365125"/>
          </a:xfrm>
          <a:solidFill>
            <a:schemeClr val="bg2"/>
          </a:solidFill>
        </p:spPr>
        <p:txBody>
          <a:bodyPr/>
          <a:lstStyle>
            <a:lvl1pPr algn="l">
              <a:defRPr/>
            </a:lvl1pPr>
          </a:lstStyle>
          <a:p>
            <a:r>
              <a:rPr lang="en-US"/>
              <a:t>9/4/2026</a:t>
            </a:r>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10134603" y="612063"/>
            <a:ext cx="1487296" cy="478334"/>
          </a:xfrm>
          <a:solidFill>
            <a:schemeClr val="bg2"/>
          </a:solidFill>
        </p:spPr>
        <p:txBody>
          <a:bodyPr anchor="t"/>
          <a:lstStyle>
            <a:lvl1pPr algn="r">
              <a:defRPr sz="1050"/>
            </a:lvl1pPr>
          </a:lstStyle>
          <a:p>
            <a:endParaRPr lang="en-US"/>
          </a:p>
        </p:txBody>
      </p:sp>
    </p:spTree>
    <p:extLst>
      <p:ext uri="{BB962C8B-B14F-4D97-AF65-F5344CB8AC3E}">
        <p14:creationId xmlns:p14="http://schemas.microsoft.com/office/powerpoint/2010/main" val="744830808"/>
      </p:ext>
    </p:extLst>
  </p:cSld>
  <p:clrMapOvr>
    <a:masterClrMapping/>
  </p:clrMapOvr>
  <p:hf hdr="0" ftr="0"/>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33580"/>
            <a:ext cx="0" cy="480029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137159" y="338328"/>
            <a:ext cx="8168640" cy="4462272"/>
          </a:xfrm>
          <a:noFill/>
        </p:spPr>
        <p:txBody>
          <a:bodyPr vert="horz" lIns="91440" tIns="45720" rIns="91440" bIns="137160" rtlCol="0" anchor="t">
            <a:normAutofit/>
          </a:bodyPr>
          <a:lstStyle>
            <a:lvl1pPr>
              <a:lnSpc>
                <a:spcPct val="80000"/>
              </a:lnSpc>
              <a:defRPr lang="en-US" sz="9600" spc="-100" baseline="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8534400" y="4754729"/>
            <a:ext cx="3084441" cy="1080302"/>
          </a:xfrm>
          <a:solidFill>
            <a:schemeClr val="bg2"/>
          </a:solidFill>
        </p:spPr>
        <p:txBody>
          <a:bodyPr vert="horz" lIns="91440" tIns="45720" rIns="91440" bIns="45720" rtlCol="0" anchor="b">
            <a:normAutofit/>
          </a:bodyPr>
          <a:lstStyle>
            <a:lvl1pPr marL="0" indent="0" algn="r">
              <a:buNone/>
              <a:defRPr lang="en-US" sz="1600" cap="all" spc="100" baseline="0" dirty="0">
                <a:solidFill>
                  <a:schemeClr val="accent5"/>
                </a:solidFill>
                <a:latin typeface="+mj-lt"/>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144000" y="447579"/>
            <a:ext cx="2477899" cy="586001"/>
          </a:xfrm>
          <a:noFill/>
        </p:spPr>
        <p:txBody>
          <a:bodyPr/>
          <a:lstStyle>
            <a:lvl1pPr algn="r">
              <a:defRPr sz="1050"/>
            </a:lvl1pPr>
          </a:lstStyle>
          <a:p>
            <a:endParaRPr lang="en-US"/>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noFill/>
        </p:spPr>
        <p:txBody>
          <a:bodyPr/>
          <a:lstStyle/>
          <a:p>
            <a:r>
              <a:rPr lang="en-US"/>
              <a:t>9/4/2026</a:t>
            </a:r>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noFill/>
        </p:spPr>
        <p:txBody>
          <a:bodyPr/>
          <a:lstStyle/>
          <a:p>
            <a:fld id="{2A70D941-57F8-4881-9B87-49647FCDA0D6}" type="slidenum">
              <a:rPr lang="en-US" smtClean="0"/>
              <a:t>‹#›</a:t>
            </a:fld>
            <a:endParaRPr lang="en-US"/>
          </a:p>
        </p:txBody>
      </p:sp>
    </p:spTree>
    <p:extLst>
      <p:ext uri="{BB962C8B-B14F-4D97-AF65-F5344CB8AC3E}">
        <p14:creationId xmlns:p14="http://schemas.microsoft.com/office/powerpoint/2010/main" val="314637029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D3069F5-8FDE-3652-E906-3619BF9A5D9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B286"/>
              </a:solidFill>
            </a:endParaRPr>
          </a:p>
        </p:txBody>
      </p:sp>
      <p:cxnSp>
        <p:nvCxnSpPr>
          <p:cNvPr id="8" name="Straight Connector 7">
            <a:extLst>
              <a:ext uri="{FF2B5EF4-FFF2-40B4-BE49-F238E27FC236}">
                <a16:creationId xmlns:a16="http://schemas.microsoft.com/office/drawing/2014/main" id="{7F3E913D-4F8E-6F1A-DB89-A9E5CB7D266C}"/>
              </a:ext>
              <a:ext uri="{C183D7F6-B498-43B3-948B-1728B52AA6E4}">
                <adec:decorative xmlns:adec="http://schemas.microsoft.com/office/drawing/2017/decorative" val="1"/>
              </a:ext>
            </a:extLst>
          </p:cNvPr>
          <p:cNvCxnSpPr>
            <a:cxnSpLocks/>
          </p:cNvCxnSpPr>
          <p:nvPr/>
        </p:nvCxnSpPr>
        <p:spPr>
          <a:xfrm flipH="1">
            <a:off x="926297" y="6172185"/>
            <a:ext cx="10326757" cy="0"/>
          </a:xfrm>
          <a:prstGeom prst="line">
            <a:avLst/>
          </a:prstGeom>
          <a:ln w="12700">
            <a:solidFill>
              <a:schemeClr val="bg2">
                <a:alpha val="47000"/>
              </a:schemeClr>
            </a:solidFill>
          </a:ln>
        </p:spPr>
        <p:style>
          <a:lnRef idx="1">
            <a:schemeClr val="accent1"/>
          </a:lnRef>
          <a:fillRef idx="0">
            <a:schemeClr val="accent1"/>
          </a:fillRef>
          <a:effectRef idx="0">
            <a:schemeClr val="accent1"/>
          </a:effectRef>
          <a:fontRef idx="minor">
            <a:schemeClr val="tx1"/>
          </a:fontRef>
        </p:style>
      </p:cxnSp>
      <p:sp>
        <p:nvSpPr>
          <p:cNvPr id="9" name="Title 8">
            <a:extLst>
              <a:ext uri="{FF2B5EF4-FFF2-40B4-BE49-F238E27FC236}">
                <a16:creationId xmlns:a16="http://schemas.microsoft.com/office/drawing/2014/main" id="{15478846-46FB-2BEE-98D6-C903223E25CA}"/>
              </a:ext>
            </a:extLst>
          </p:cNvPr>
          <p:cNvSpPr>
            <a:spLocks noGrp="1"/>
          </p:cNvSpPr>
          <p:nvPr>
            <p:ph type="title" hasCustomPrompt="1"/>
          </p:nvPr>
        </p:nvSpPr>
        <p:spPr>
          <a:xfrm>
            <a:off x="128016" y="365760"/>
            <a:ext cx="11534790" cy="5525653"/>
          </a:xfrm>
          <a:noFill/>
        </p:spPr>
        <p:txBody>
          <a:bodyPr anchor="t">
            <a:normAutofit/>
          </a:bodyPr>
          <a:lstStyle>
            <a:lvl1pPr>
              <a:defRPr sz="11500" baseline="0">
                <a:ln>
                  <a:solidFill>
                    <a:schemeClr val="bg1"/>
                  </a:solidFill>
                </a:ln>
                <a:solidFill>
                  <a:schemeClr val="accent1"/>
                </a:solidFill>
              </a:defRPr>
            </a:lvl1pPr>
          </a:lstStyle>
          <a:p>
            <a:r>
              <a:rPr lang="en-US" dirty="0"/>
              <a:t>Section Header</a:t>
            </a:r>
          </a:p>
        </p:txBody>
      </p:sp>
      <p:sp>
        <p:nvSpPr>
          <p:cNvPr id="5" name="Footer Placeholder 4">
            <a:extLst>
              <a:ext uri="{FF2B5EF4-FFF2-40B4-BE49-F238E27FC236}">
                <a16:creationId xmlns:a16="http://schemas.microsoft.com/office/drawing/2014/main" id="{37A8544F-8D58-BFED-5A2B-2F718BA6F4F4}"/>
              </a:ext>
            </a:extLst>
          </p:cNvPr>
          <p:cNvSpPr>
            <a:spLocks noGrp="1"/>
          </p:cNvSpPr>
          <p:nvPr>
            <p:ph type="ftr" sz="quarter" idx="11"/>
          </p:nvPr>
        </p:nvSpPr>
        <p:spPr>
          <a:solidFill>
            <a:schemeClr val="accent1"/>
          </a:solidFill>
        </p:spPr>
        <p:txBody>
          <a:bodyPr/>
          <a:lstStyle>
            <a:lvl1pPr>
              <a:defRPr>
                <a:solidFill>
                  <a:schemeClr val="bg1"/>
                </a:solidFill>
              </a:defRPr>
            </a:lvl1pPr>
          </a:lstStyle>
          <a:p>
            <a:endParaRPr lang="en-US"/>
          </a:p>
        </p:txBody>
      </p:sp>
      <p:sp>
        <p:nvSpPr>
          <p:cNvPr id="4" name="Date Placeholder 3">
            <a:extLst>
              <a:ext uri="{FF2B5EF4-FFF2-40B4-BE49-F238E27FC236}">
                <a16:creationId xmlns:a16="http://schemas.microsoft.com/office/drawing/2014/main" id="{AB70139D-4890-4E0D-B3FD-098A02AB4ADF}"/>
              </a:ext>
            </a:extLst>
          </p:cNvPr>
          <p:cNvSpPr>
            <a:spLocks noGrp="1"/>
          </p:cNvSpPr>
          <p:nvPr>
            <p:ph type="dt" sz="half" idx="10"/>
          </p:nvPr>
        </p:nvSpPr>
        <p:spPr>
          <a:solidFill>
            <a:schemeClr val="accent1"/>
          </a:solidFill>
        </p:spPr>
        <p:txBody>
          <a:bodyPr/>
          <a:lstStyle>
            <a:lvl1pPr>
              <a:defRPr>
                <a:solidFill>
                  <a:schemeClr val="bg1"/>
                </a:solidFill>
              </a:defRPr>
            </a:lvl1pPr>
          </a:lstStyle>
          <a:p>
            <a:r>
              <a:rPr lang="en-US"/>
              <a:t>9/4/2026</a:t>
            </a:r>
          </a:p>
        </p:txBody>
      </p:sp>
      <p:sp>
        <p:nvSpPr>
          <p:cNvPr id="6" name="Slide Number Placeholder 5">
            <a:extLst>
              <a:ext uri="{FF2B5EF4-FFF2-40B4-BE49-F238E27FC236}">
                <a16:creationId xmlns:a16="http://schemas.microsoft.com/office/drawing/2014/main" id="{BA1CD1DB-3989-A34F-B5F7-DF66E018CF83}"/>
              </a:ext>
            </a:extLst>
          </p:cNvPr>
          <p:cNvSpPr>
            <a:spLocks noGrp="1"/>
          </p:cNvSpPr>
          <p:nvPr>
            <p:ph type="sldNum" sz="quarter" idx="12"/>
          </p:nvPr>
        </p:nvSpPr>
        <p:spPr>
          <a:solidFill>
            <a:schemeClr val="accent1"/>
          </a:solidFill>
        </p:spPr>
        <p:txBody>
          <a:bodyPr/>
          <a:lstStyle>
            <a:lvl1pPr>
              <a:defRPr>
                <a:solidFill>
                  <a:schemeClr val="bg1"/>
                </a:solidFill>
              </a:defRPr>
            </a:lvl1pPr>
          </a:lstStyle>
          <a:p>
            <a:fld id="{2A70D941-57F8-4881-9B87-49647FCDA0D6}" type="slidenum">
              <a:rPr lang="en-US" smtClean="0"/>
              <a:t>‹#›</a:t>
            </a:fld>
            <a:endParaRPr lang="en-US"/>
          </a:p>
        </p:txBody>
      </p:sp>
    </p:spTree>
    <p:extLst>
      <p:ext uri="{BB962C8B-B14F-4D97-AF65-F5344CB8AC3E}">
        <p14:creationId xmlns:p14="http://schemas.microsoft.com/office/powerpoint/2010/main" val="1738770526"/>
      </p:ext>
    </p:extLst>
  </p:cSld>
  <p:clrMapOvr>
    <a:masterClrMapping/>
  </p:clrMapOvr>
  <p:hf hdr="0" ftr="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1" y="0"/>
            <a:ext cx="12191996"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cxnSp>
        <p:nvCxnSpPr>
          <p:cNvPr id="9" name="Straight Connector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flipH="1">
            <a:off x="1321906" y="685800"/>
            <a:ext cx="10184294" cy="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4724403" y="2043904"/>
            <a:ext cx="7467597" cy="48140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rot="16200000">
            <a:off x="-1406175" y="2720396"/>
            <a:ext cx="5645423" cy="2494309"/>
          </a:xfrm>
          <a:solidFill>
            <a:schemeClr val="bg2">
              <a:lumMod val="90000"/>
            </a:schemeClr>
          </a:solidFill>
        </p:spPr>
        <p:txBody>
          <a:bodyPr vert="horz" lIns="91440" tIns="45720" rIns="91440" bIns="137160" rtlCol="0" anchor="t">
            <a:normAutofit/>
          </a:bodyPr>
          <a:lstStyle>
            <a:lvl1pPr>
              <a:defRPr lang="en-US" sz="12000" dirty="0">
                <a:solidFill>
                  <a:schemeClr val="accent2"/>
                </a:solidFill>
              </a:defRPr>
            </a:lvl1pPr>
          </a:lstStyle>
          <a:p>
            <a:pPr lvl="0"/>
            <a:r>
              <a:rPr lang="en-US" dirty="0"/>
              <a:t>Agenda</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586410" y="569843"/>
            <a:ext cx="1470992" cy="541698"/>
          </a:xfrm>
          <a:solidFill>
            <a:schemeClr val="bg2">
              <a:lumMod val="90000"/>
            </a:schemeClr>
          </a:solidFill>
        </p:spPr>
        <p:txBody>
          <a:bodyPr anchor="t"/>
          <a:lstStyle>
            <a:lvl1pPr algn="l">
              <a:defRPr sz="1050"/>
            </a:lvl1pPr>
          </a:lstStyle>
          <a:p>
            <a:endParaRPr lang="en-US"/>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410198" y="2743202"/>
            <a:ext cx="6096001" cy="3467098"/>
          </a:xfrm>
        </p:spPr>
        <p:txBody>
          <a:bodyPr>
            <a:normAutofit/>
          </a:bodyPr>
          <a:lstStyle>
            <a:lvl1pPr marL="342900" indent="-342900">
              <a:buClr>
                <a:schemeClr val="accent2"/>
              </a:buClr>
              <a:buFont typeface="+mj-lt"/>
              <a:buAutoNum type="arabicPeriod"/>
              <a:defRPr sz="1800"/>
            </a:lvl1pPr>
            <a:lvl2pPr marL="800100" indent="-342900">
              <a:buClr>
                <a:schemeClr val="accent2"/>
              </a:buClr>
              <a:buFont typeface="+mj-lt"/>
              <a:buAutoNum type="arabicPeriod"/>
              <a:defRPr sz="1600"/>
            </a:lvl2pPr>
            <a:lvl3pPr marL="1257300" indent="-342900">
              <a:buClr>
                <a:schemeClr val="accent2"/>
              </a:buClr>
              <a:buFont typeface="+mj-lt"/>
              <a:buAutoNum type="arabicPeriod"/>
              <a:defRPr sz="1400"/>
            </a:lvl3pPr>
            <a:lvl4pPr>
              <a:buClr>
                <a:schemeClr val="accent2"/>
              </a:buClr>
              <a:buFont typeface="+mj-lt"/>
              <a:buAutoNum type="arabicPeriod"/>
              <a:defRPr sz="1200"/>
            </a:lvl4pPr>
            <a:lvl5pPr>
              <a:buClr>
                <a:schemeClr val="accent2"/>
              </a:buCl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00458" y="413627"/>
            <a:ext cx="1256738" cy="545500"/>
          </a:xfrm>
          <a:solidFill>
            <a:schemeClr val="bg2">
              <a:lumMod val="90000"/>
            </a:schemeClr>
          </a:solidFill>
        </p:spPr>
        <p:txBody>
          <a:bodyPr/>
          <a:lstStyle/>
          <a:p>
            <a:r>
              <a:rPr lang="en-US"/>
              <a:t>9/4/2026</a:t>
            </a:r>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157196" y="413627"/>
            <a:ext cx="429372" cy="545500"/>
          </a:xfrm>
          <a:solidFill>
            <a:schemeClr val="bg2">
              <a:lumMod val="90000"/>
            </a:schemeClr>
          </a:solidFill>
        </p:spPr>
        <p:txBody>
          <a:bodyPr/>
          <a:lstStyle/>
          <a:p>
            <a:fld id="{2A70D941-57F8-4881-9B87-49647FCDA0D6}" type="slidenum">
              <a:rPr lang="en-US" smtClean="0"/>
              <a:t>‹#›</a:t>
            </a:fld>
            <a:endParaRPr lang="en-US"/>
          </a:p>
        </p:txBody>
      </p:sp>
    </p:spTree>
    <p:extLst>
      <p:ext uri="{BB962C8B-B14F-4D97-AF65-F5344CB8AC3E}">
        <p14:creationId xmlns:p14="http://schemas.microsoft.com/office/powerpoint/2010/main" val="4284158240"/>
      </p:ext>
    </p:extLst>
  </p:cSld>
  <p:clrMapOvr>
    <a:masterClrMapping/>
  </p:clrMapOvr>
  <p:hf hdr="0" ftr="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1" y="0"/>
            <a:ext cx="12191996"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8" name="Rectangle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1371603" y="3415504"/>
            <a:ext cx="10820397" cy="34424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flipV="1">
            <a:off x="11506200" y="1113182"/>
            <a:ext cx="0" cy="170401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46306" y="182880"/>
            <a:ext cx="7930892" cy="2238587"/>
          </a:xfrm>
          <a:noFill/>
        </p:spPr>
        <p:txBody>
          <a:bodyPr anchor="t">
            <a:normAutofit/>
          </a:bodyPr>
          <a:lstStyle>
            <a:lvl1pPr>
              <a:defRPr sz="12000" spc="-50" baseline="0">
                <a:solidFill>
                  <a:schemeClr val="accent2"/>
                </a:solidFill>
              </a:defRPr>
            </a:lvl1pPr>
          </a:lstStyle>
          <a:p>
            <a:r>
              <a:rPr lang="en-US" dirty="0"/>
              <a:t>Agenda</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1804946" y="3840480"/>
            <a:ext cx="6543924" cy="2536466"/>
          </a:xfrm>
        </p:spPr>
        <p:txBody>
          <a:bodyPr>
            <a:normAutofit/>
          </a:bodyPr>
          <a:lstStyle>
            <a:lvl1pPr marL="342900" indent="-342900">
              <a:buClr>
                <a:schemeClr val="accent2"/>
              </a:buClr>
              <a:buFont typeface="+mj-lt"/>
              <a:buAutoNum type="arabicPeriod"/>
              <a:defRPr sz="1800"/>
            </a:lvl1pPr>
            <a:lvl2pPr marL="800100" indent="-342900">
              <a:buClr>
                <a:schemeClr val="accent2"/>
              </a:buClr>
              <a:buFont typeface="+mj-lt"/>
              <a:buAutoNum type="arabicPeriod"/>
              <a:defRPr sz="1600"/>
            </a:lvl2pPr>
            <a:lvl3pPr marL="1257300" indent="-342900">
              <a:buClr>
                <a:schemeClr val="accent2"/>
              </a:buClr>
              <a:buFont typeface="+mj-lt"/>
              <a:buAutoNum type="arabicPeriod"/>
              <a:defRPr sz="1400"/>
            </a:lvl3pPr>
            <a:lvl4pPr>
              <a:buClr>
                <a:schemeClr val="accent2"/>
              </a:buClr>
              <a:buFont typeface="+mj-lt"/>
              <a:buAutoNum type="arabicPeriod"/>
              <a:defRPr sz="1200"/>
            </a:lvl4pPr>
            <a:lvl5pPr>
              <a:buClr>
                <a:schemeClr val="accent2"/>
              </a:buCl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10134611" y="612381"/>
            <a:ext cx="1484228" cy="479352"/>
          </a:xfrm>
          <a:noFill/>
        </p:spPr>
        <p:txBody>
          <a:bodyPr anchor="t"/>
          <a:lstStyle>
            <a:lvl1pPr algn="r">
              <a:defRPr sz="1050"/>
            </a:lvl1p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33512" y="2756699"/>
            <a:ext cx="1256738" cy="423823"/>
          </a:xfrm>
          <a:solidFill>
            <a:schemeClr val="bg2">
              <a:lumMod val="90000"/>
            </a:schemeClr>
          </a:solidFill>
        </p:spPr>
        <p:txBody>
          <a:bodyPr anchor="ctr"/>
          <a:lstStyle>
            <a:lvl1pPr algn="r">
              <a:defRPr/>
            </a:lvl1pPr>
          </a:lstStyle>
          <a:p>
            <a:r>
              <a:rPr lang="en-US"/>
              <a:t>9/4/2026</a:t>
            </a:r>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10544" y="2756699"/>
            <a:ext cx="429372" cy="423823"/>
          </a:xfrm>
          <a:solidFill>
            <a:schemeClr val="bg2">
              <a:lumMod val="90000"/>
            </a:schemeClr>
          </a:solidFill>
        </p:spPr>
        <p:txBody>
          <a:bodyPr/>
          <a:lstStyle/>
          <a:p>
            <a:fld id="{2A70D941-57F8-4881-9B87-49647FCDA0D6}" type="slidenum">
              <a:rPr lang="en-US" smtClean="0"/>
              <a:t>‹#›</a:t>
            </a:fld>
            <a:endParaRPr lang="en-US"/>
          </a:p>
        </p:txBody>
      </p:sp>
      <p:sp>
        <p:nvSpPr>
          <p:cNvPr id="14" name="Picture Placeholder 13">
            <a:extLst>
              <a:ext uri="{FF2B5EF4-FFF2-40B4-BE49-F238E27FC236}">
                <a16:creationId xmlns:a16="http://schemas.microsoft.com/office/drawing/2014/main" id="{1DA62460-475C-38E7-135D-916B98438D09}"/>
              </a:ext>
            </a:extLst>
          </p:cNvPr>
          <p:cNvSpPr>
            <a:spLocks noGrp="1"/>
          </p:cNvSpPr>
          <p:nvPr>
            <p:ph type="pic" sz="quarter" idx="13" hasCustomPrompt="1"/>
          </p:nvPr>
        </p:nvSpPr>
        <p:spPr>
          <a:xfrm>
            <a:off x="8763000" y="3415504"/>
            <a:ext cx="3429000" cy="3442496"/>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987712250"/>
      </p:ext>
    </p:extLst>
  </p:cSld>
  <p:clrMapOvr>
    <a:masterClrMapping/>
  </p:clrMapOvr>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371601" y="2057399"/>
            <a:ext cx="3429000" cy="1868557"/>
          </a:xfrm>
          <a:noFill/>
        </p:spPr>
        <p:txBody>
          <a:bodyPr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486400" y="2057401"/>
            <a:ext cx="4648200" cy="274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r>
              <a:rPr lang="en-US"/>
              <a:t>9/4/2026</a:t>
            </a:r>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A70D941-57F8-4881-9B87-49647FCDA0D6}" type="slidenum">
              <a:rPr lang="en-US" smtClean="0"/>
              <a:t>‹#›</a:t>
            </a:fld>
            <a:endParaRPr lang="en-US"/>
          </a:p>
        </p:txBody>
      </p:sp>
    </p:spTree>
    <p:extLst>
      <p:ext uri="{BB962C8B-B14F-4D97-AF65-F5344CB8AC3E}">
        <p14:creationId xmlns:p14="http://schemas.microsoft.com/office/powerpoint/2010/main" val="212856997"/>
      </p:ext>
    </p:extLst>
  </p:cSld>
  <p:clrMapOvr>
    <a:masterClrMapping/>
  </p:clrMapOvr>
  <p:hf hdr="0" ftr="0"/>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1031915"/>
            <a:ext cx="3968496" cy="1494845"/>
          </a:xfrm>
          <a:noFill/>
        </p:spPr>
        <p:txBody>
          <a:bodyPr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090020" y="1001865"/>
            <a:ext cx="6416180" cy="46833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7"/>
            <a:ext cx="1179576" cy="365125"/>
          </a:xfrm>
        </p:spPr>
        <p:txBody>
          <a:bodyPr/>
          <a:lstStyle/>
          <a:p>
            <a:r>
              <a:rPr lang="en-US"/>
              <a:t>9/4/2026</a:t>
            </a:r>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A70D941-57F8-4881-9B87-49647FCDA0D6}" type="slidenum">
              <a:rPr lang="en-US" smtClean="0"/>
              <a:t>‹#›</a:t>
            </a:fld>
            <a:endParaRPr lang="en-US"/>
          </a:p>
        </p:txBody>
      </p:sp>
    </p:spTree>
    <p:extLst>
      <p:ext uri="{BB962C8B-B14F-4D97-AF65-F5344CB8AC3E}">
        <p14:creationId xmlns:p14="http://schemas.microsoft.com/office/powerpoint/2010/main" val="626892784"/>
      </p:ext>
    </p:extLst>
  </p:cSld>
  <p:clrMapOvr>
    <a:masterClrMapping/>
  </p:clrMapOvr>
  <p:hf hdr="0" ftr="0"/>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3124200" cy="68580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2438400" y="0"/>
            <a:ext cx="7391400" cy="1207008"/>
          </a:xfrm>
        </p:spPr>
        <p:txBody>
          <a:bodyPr lIns="137160" tIns="137160" bIns="91440" anchor="b"/>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3733800" y="1367622"/>
            <a:ext cx="7929006" cy="44775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BB460515-4779-2CA9-5335-1F4AD158B79D}"/>
              </a:ext>
              <a:ext uri="{C183D7F6-B498-43B3-948B-1728B52AA6E4}">
                <adec:decorative xmlns:adec="http://schemas.microsoft.com/office/drawing/2017/decorative" val="1"/>
              </a:ext>
            </a:extLst>
          </p:cNvPr>
          <p:cNvCxnSpPr>
            <a:cxnSpLocks/>
          </p:cNvCxnSpPr>
          <p:nvPr/>
        </p:nvCxnSpPr>
        <p:spPr>
          <a:xfrm>
            <a:off x="3810000" y="6210300"/>
            <a:ext cx="7696200"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3657601" y="6029868"/>
            <a:ext cx="2024542" cy="365125"/>
          </a:xfrm>
        </p:spPr>
        <p:txBody>
          <a:body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r>
              <a:rPr lang="en-US"/>
              <a:t>9/4/2026</a:t>
            </a:r>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A70D941-57F8-4881-9B87-49647FCDA0D6}" type="slidenum">
              <a:rPr lang="en-US" smtClean="0"/>
              <a:t>‹#›</a:t>
            </a:fld>
            <a:endParaRPr lang="en-US"/>
          </a:p>
        </p:txBody>
      </p:sp>
    </p:spTree>
    <p:extLst>
      <p:ext uri="{BB962C8B-B14F-4D97-AF65-F5344CB8AC3E}">
        <p14:creationId xmlns:p14="http://schemas.microsoft.com/office/powerpoint/2010/main" val="2084215288"/>
      </p:ext>
    </p:extLst>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5486400" cy="55626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5063318" y="0"/>
            <a:ext cx="4385481" cy="1796124"/>
          </a:xfrm>
        </p:spPr>
        <p:txBody>
          <a:bodyPr lIns="137160"/>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5056" y="1965281"/>
            <a:ext cx="4859992" cy="37328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r>
              <a:rPr lang="en-US"/>
              <a:t>9/4/2026</a:t>
            </a:r>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A70D941-57F8-4881-9B87-49647FCDA0D6}" type="slidenum">
              <a:rPr lang="en-US" smtClean="0"/>
              <a:t>‹#›</a:t>
            </a:fld>
            <a:endParaRPr lang="en-US"/>
          </a:p>
        </p:txBody>
      </p:sp>
    </p:spTree>
    <p:extLst>
      <p:ext uri="{BB962C8B-B14F-4D97-AF65-F5344CB8AC3E}">
        <p14:creationId xmlns:p14="http://schemas.microsoft.com/office/powerpoint/2010/main" val="547213438"/>
      </p:ext>
    </p:extLst>
  </p:cSld>
  <p:clrMapOvr>
    <a:masterClrMapping/>
  </p:clrMapOvr>
  <p:hf hdr="0" ftr="0"/>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99475"/>
            <a:ext cx="3625442" cy="1474692"/>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432" y="2124222"/>
            <a:ext cx="3567404" cy="34887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4800601" y="0"/>
            <a:ext cx="7391400" cy="5562600"/>
          </a:xfrm>
          <a:blipFill>
            <a:blip r:embed="rId2">
              <a:alphaModFix amt="7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r>
              <a:rPr lang="en-US"/>
              <a:t>9/4/2026</a:t>
            </a:r>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a:lstStyle/>
          <a:p>
            <a:fld id="{2A70D941-57F8-4881-9B87-49647FCDA0D6}" type="slidenum">
              <a:rPr lang="en-US" smtClean="0"/>
              <a:t>‹#›</a:t>
            </a:fld>
            <a:endParaRPr lang="en-US"/>
          </a:p>
        </p:txBody>
      </p:sp>
    </p:spTree>
    <p:extLst>
      <p:ext uri="{BB962C8B-B14F-4D97-AF65-F5344CB8AC3E}">
        <p14:creationId xmlns:p14="http://schemas.microsoft.com/office/powerpoint/2010/main" val="1484336896"/>
      </p:ext>
    </p:extLst>
  </p:cSld>
  <p:clrMapOvr>
    <a:masterClrMapping/>
  </p:clrMapOvr>
  <p:hf hdr="0" ftr="0"/>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30047"/>
            <a:ext cx="4939005" cy="1166270"/>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432" y="1746792"/>
            <a:ext cx="5776896" cy="3969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7391400" y="0"/>
            <a:ext cx="4800600" cy="5562600"/>
          </a:xfrm>
          <a:blipFill>
            <a:blip r:embed="rId2">
              <a:alphaModFix amt="7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r>
              <a:rPr lang="en-US"/>
              <a:t>9/4/2026</a:t>
            </a:r>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a:lstStyle/>
          <a:p>
            <a:fld id="{2A70D941-57F8-4881-9B87-49647FCDA0D6}" type="slidenum">
              <a:rPr lang="en-US" smtClean="0"/>
              <a:t>‹#›</a:t>
            </a:fld>
            <a:endParaRPr lang="en-US"/>
          </a:p>
        </p:txBody>
      </p:sp>
    </p:spTree>
    <p:extLst>
      <p:ext uri="{BB962C8B-B14F-4D97-AF65-F5344CB8AC3E}">
        <p14:creationId xmlns:p14="http://schemas.microsoft.com/office/powerpoint/2010/main" val="2184225074"/>
      </p:ext>
    </p:extLst>
  </p:cSld>
  <p:clrMapOvr>
    <a:masterClrMapping/>
  </p:clrMapOvr>
  <p:hf hdr="0" ftr="0"/>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7848600" cy="68580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7450456" y="0"/>
            <a:ext cx="4142830" cy="1978681"/>
          </a:xfrm>
        </p:spPr>
        <p:txBody>
          <a:bodyPr lIns="137160"/>
          <a:lstStyle>
            <a:lvl1pP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8442196" y="2112973"/>
            <a:ext cx="3151090" cy="36782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8439912" y="6029868"/>
            <a:ext cx="1911096" cy="365125"/>
          </a:xfrm>
          <a:noFill/>
        </p:spPr>
        <p:txBody>
          <a:body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351008" y="6029868"/>
            <a:ext cx="890077" cy="365125"/>
          </a:xfrm>
          <a:noFill/>
        </p:spPr>
        <p:txBody>
          <a:bodyPr/>
          <a:lstStyle/>
          <a:p>
            <a:r>
              <a:rPr lang="en-US"/>
              <a:t>9/4/2026</a:t>
            </a:r>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2A70D941-57F8-4881-9B87-49647FCDA0D6}" type="slidenum">
              <a:rPr lang="en-US" smtClean="0"/>
              <a:t>‹#›</a:t>
            </a:fld>
            <a:endParaRPr lang="en-US"/>
          </a:p>
        </p:txBody>
      </p:sp>
    </p:spTree>
    <p:extLst>
      <p:ext uri="{BB962C8B-B14F-4D97-AF65-F5344CB8AC3E}">
        <p14:creationId xmlns:p14="http://schemas.microsoft.com/office/powerpoint/2010/main" val="1702903094"/>
      </p:ext>
    </p:extLst>
  </p:cSld>
  <p:clrMapOvr>
    <a:masterClrMapping/>
  </p:clrMapOvr>
  <p:hf hdr="0" ftr="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EEB1BA68-9980-8CBB-7BAF-A1D760EB21EC}"/>
              </a:ext>
            </a:extLst>
          </p:cNvPr>
          <p:cNvSpPr>
            <a:spLocks noGrp="1"/>
          </p:cNvSpPr>
          <p:nvPr>
            <p:ph type="pic" sz="quarter" idx="13" hasCustomPrompt="1"/>
          </p:nvPr>
        </p:nvSpPr>
        <p:spPr>
          <a:xfrm>
            <a:off x="0" y="1"/>
            <a:ext cx="12192000" cy="6858000"/>
          </a:xfrm>
          <a:custGeom>
            <a:avLst/>
            <a:gdLst>
              <a:gd name="connsiteX0" fmla="*/ 480060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5562599 h 6858000"/>
              <a:gd name="connsiteX5" fmla="*/ 4800600 w 12192000"/>
              <a:gd name="connsiteY5" fmla="*/ 55625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4800600" y="0"/>
                </a:moveTo>
                <a:lnTo>
                  <a:pt x="12192000" y="0"/>
                </a:lnTo>
                <a:lnTo>
                  <a:pt x="12192000" y="6858000"/>
                </a:lnTo>
                <a:lnTo>
                  <a:pt x="0" y="6858000"/>
                </a:lnTo>
                <a:lnTo>
                  <a:pt x="0" y="5562599"/>
                </a:lnTo>
                <a:lnTo>
                  <a:pt x="4800600" y="5562599"/>
                </a:ln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1001376"/>
            <a:ext cx="3601122" cy="1362458"/>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3504" y="2496848"/>
            <a:ext cx="3601122" cy="230375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3504" y="503237"/>
            <a:ext cx="1907799" cy="365125"/>
          </a:xfrm>
          <a:noFill/>
        </p:spPr>
        <p:txBody>
          <a:bodyPr/>
          <a:lstStyle>
            <a:lvl1pPr algn="l">
              <a:defRPr/>
            </a:lvl1p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603504" y="4800600"/>
            <a:ext cx="1256738" cy="365125"/>
          </a:xfrm>
          <a:noFill/>
        </p:spPr>
        <p:txBody>
          <a:bodyPr/>
          <a:lstStyle>
            <a:lvl1pPr algn="l">
              <a:defRPr/>
            </a:lvl1pPr>
          </a:lstStyle>
          <a:p>
            <a:r>
              <a:rPr lang="en-US"/>
              <a:t>9/4/2026</a:t>
            </a:r>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3947641" y="4800600"/>
            <a:ext cx="429372" cy="365125"/>
          </a:xfrm>
          <a:noFill/>
        </p:spPr>
        <p:txBody>
          <a:bodyPr/>
          <a:lstStyle/>
          <a:p>
            <a:fld id="{2A70D941-57F8-4881-9B87-49647FCDA0D6}" type="slidenum">
              <a:rPr lang="en-US" smtClean="0"/>
              <a:t>‹#›</a:t>
            </a:fld>
            <a:endParaRPr lang="en-US"/>
          </a:p>
        </p:txBody>
      </p:sp>
    </p:spTree>
    <p:extLst>
      <p:ext uri="{BB962C8B-B14F-4D97-AF65-F5344CB8AC3E}">
        <p14:creationId xmlns:p14="http://schemas.microsoft.com/office/powerpoint/2010/main" val="5986306"/>
      </p:ext>
    </p:extLst>
  </p:cSld>
  <p:clrMapOvr>
    <a:masterClrMapping/>
  </p:clrMapOvr>
  <p:hf hdr="0" ftr="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673955"/>
            <a:ext cx="3154680" cy="1287913"/>
          </a:xfrm>
          <a:noFill/>
        </p:spPr>
        <p:txBody>
          <a:bodyPr anchor="t"/>
          <a:lstStyle>
            <a:lvl1pPr>
              <a:defRPr/>
            </a:lvl1pPr>
          </a:lstStyle>
          <a:p>
            <a:r>
              <a:rPr lang="en-US" dirty="0"/>
              <a:t>Click to Edit Master Title style</a:t>
            </a:r>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0" y="0"/>
            <a:ext cx="12191999" cy="4114800"/>
          </a:xfrm>
          <a:blipFill>
            <a:blip r:embed="rId2">
              <a:alphaModFix amt="7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114800" y="4647060"/>
            <a:ext cx="7552114" cy="1382807"/>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noFill/>
        </p:spPr>
        <p:txBody>
          <a:body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a:noFill/>
        </p:spPr>
        <p:txBody>
          <a:bodyPr/>
          <a:lstStyle/>
          <a:p>
            <a:r>
              <a:rPr lang="en-US"/>
              <a:t>9/4/2026</a:t>
            </a:r>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7542" y="6029868"/>
            <a:ext cx="429372" cy="365125"/>
          </a:xfrm>
          <a:noFill/>
        </p:spPr>
        <p:txBody>
          <a:bodyPr/>
          <a:lstStyle/>
          <a:p>
            <a:fld id="{2A70D941-57F8-4881-9B87-49647FCDA0D6}" type="slidenum">
              <a:rPr lang="en-US" smtClean="0"/>
              <a:t>‹#›</a:t>
            </a:fld>
            <a:endParaRPr lang="en-US"/>
          </a:p>
        </p:txBody>
      </p:sp>
    </p:spTree>
    <p:extLst>
      <p:ext uri="{BB962C8B-B14F-4D97-AF65-F5344CB8AC3E}">
        <p14:creationId xmlns:p14="http://schemas.microsoft.com/office/powerpoint/2010/main" val="1805864828"/>
      </p:ext>
    </p:extLst>
  </p:cSld>
  <p:clrMapOvr>
    <a:masterClrMapping/>
  </p:clrMapOvr>
  <p:hf hdr="0" ftr="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3505" y="337062"/>
            <a:ext cx="6787898" cy="845931"/>
          </a:xfrm>
        </p:spPr>
        <p:txBody>
          <a:bodyPr tIns="91440" bIns="91440"/>
          <a:lstStyle>
            <a:lvl1pP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705468" y="637706"/>
            <a:ext cx="1907799" cy="365125"/>
          </a:xfrm>
        </p:spPr>
        <p:txBody>
          <a:bodyPr anchor="t"/>
          <a:lstStyle>
            <a:lvl1pPr algn="r">
              <a:defRPr/>
            </a:lvl1pPr>
          </a:lstStyle>
          <a:p>
            <a:endParaRPr lang="en-US"/>
          </a:p>
        </p:txBody>
      </p:sp>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1371600"/>
            <a:ext cx="7391402" cy="5486400"/>
          </a:xfrm>
          <a:blipFill>
            <a:blip r:embed="rId2">
              <a:alphaModFix amt="7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7966163" y="1266737"/>
            <a:ext cx="2894795" cy="47631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r>
              <a:rPr lang="en-US"/>
              <a:t>9/4/2026</a:t>
            </a:r>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A70D941-57F8-4881-9B87-49647FCDA0D6}" type="slidenum">
              <a:rPr lang="en-US" smtClean="0"/>
              <a:t>‹#›</a:t>
            </a:fld>
            <a:endParaRPr lang="en-US"/>
          </a:p>
        </p:txBody>
      </p:sp>
      <p:cxnSp>
        <p:nvCxnSpPr>
          <p:cNvPr id="12" name="Straight Connector 11">
            <a:extLst>
              <a:ext uri="{FF2B5EF4-FFF2-40B4-BE49-F238E27FC236}">
                <a16:creationId xmlns:a16="http://schemas.microsoft.com/office/drawing/2014/main" id="{DF397562-DA4B-EE6B-8F6C-1CE4F33EBED1}"/>
              </a:ext>
              <a:ext uri="{C183D7F6-B498-43B3-948B-1728B52AA6E4}">
                <adec:decorative xmlns:adec="http://schemas.microsoft.com/office/drawing/2017/decorative" val="1"/>
              </a:ext>
            </a:extLst>
          </p:cNvPr>
          <p:cNvCxnSpPr>
            <a:cxnSpLocks/>
          </p:cNvCxnSpPr>
          <p:nvPr/>
        </p:nvCxnSpPr>
        <p:spPr>
          <a:xfrm>
            <a:off x="11502704" y="1028700"/>
            <a:ext cx="0" cy="480060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1068432"/>
      </p:ext>
    </p:extLst>
  </p:cSld>
  <p:clrMapOvr>
    <a:masterClrMapping/>
  </p:clrMapOvr>
  <p:hf hdr="0" ft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1"/>
            <a:ext cx="4800600" cy="4822372"/>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002085" y="4374100"/>
            <a:ext cx="3897905" cy="1380814"/>
          </a:xfrm>
        </p:spPr>
        <p:txBody>
          <a:bodyPr lIns="137160" tIns="137160"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389516" y="685800"/>
            <a:ext cx="5430884" cy="52049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2974" y="6029867"/>
            <a:ext cx="1911096" cy="365126"/>
          </a:xfrm>
          <a:solidFill>
            <a:schemeClr val="bg1"/>
          </a:solidFill>
        </p:spPr>
        <p:txBody>
          <a:bodyPr anchor="ctr"/>
          <a:lstStyle>
            <a:lvl1pPr algn="l">
              <a:defRPr/>
            </a:lvl1p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a:solidFill>
            <a:schemeClr val="bg1"/>
          </a:solidFill>
        </p:spPr>
        <p:txBody>
          <a:bodyPr/>
          <a:lstStyle/>
          <a:p>
            <a:r>
              <a:rPr lang="en-US"/>
              <a:t>9/4/2026</a:t>
            </a:r>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A70D941-57F8-4881-9B87-49647FCDA0D6}" type="slidenum">
              <a:rPr lang="en-US" smtClean="0"/>
              <a:t>‹#›</a:t>
            </a:fld>
            <a:endParaRPr lang="en-US"/>
          </a:p>
        </p:txBody>
      </p:sp>
    </p:spTree>
    <p:extLst>
      <p:ext uri="{BB962C8B-B14F-4D97-AF65-F5344CB8AC3E}">
        <p14:creationId xmlns:p14="http://schemas.microsoft.com/office/powerpoint/2010/main" val="549852287"/>
      </p:ext>
    </p:extLst>
  </p:cSld>
  <p:clrMapOvr>
    <a:masterClrMapping/>
  </p:clrMapOvr>
  <p:hf hdr="0" ftr="0"/>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 preserve="1">
  <p:cSld name="Number Larg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4800599" y="5149121"/>
            <a:ext cx="6861107" cy="842527"/>
          </a:xfrm>
          <a:noFill/>
        </p:spPr>
        <p:txBody>
          <a:bodyPr anchor="t"/>
          <a:lstStyle>
            <a:lvl1pPr algn="r">
              <a:defRPr b="0" cap="all" baseline="0">
                <a:solidFill>
                  <a:schemeClr val="accent1"/>
                </a:solidFill>
                <a:effectLst/>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434196" y="120765"/>
            <a:ext cx="10723000" cy="4260404"/>
          </a:xfrm>
        </p:spPr>
        <p:txBody>
          <a:bodyPr lIns="0" tIns="0" rIns="0" bIns="0" anchor="b">
            <a:normAutofit/>
          </a:bodyPr>
          <a:lstStyle>
            <a:lvl1pPr marL="0" indent="0">
              <a:buNone/>
              <a:defRPr sz="28000" spc="-200" baseline="0">
                <a:solidFill>
                  <a:schemeClr val="accent3"/>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29867"/>
            <a:ext cx="2137769" cy="365125"/>
          </a:xfrm>
          <a:noFill/>
        </p:spPr>
        <p:txBody>
          <a:bodyPr/>
          <a:lstStyle>
            <a:lvl1pPr>
              <a:defRPr b="0">
                <a:solidFill>
                  <a:schemeClr val="tx2"/>
                </a:solidFill>
              </a:defRPr>
            </a:lvl1p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tx2"/>
                </a:solidFill>
              </a:defRPr>
            </a:lvl1pPr>
          </a:lstStyle>
          <a:p>
            <a:r>
              <a:rPr lang="en-US"/>
              <a:t>9/4/2026</a:t>
            </a:r>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tx2"/>
                </a:solidFill>
              </a:defRPr>
            </a:lvl1pPr>
          </a:lstStyle>
          <a:p>
            <a:fld id="{2A70D941-57F8-4881-9B87-49647FCDA0D6}" type="slidenum">
              <a:rPr lang="en-US" smtClean="0"/>
              <a:t>‹#›</a:t>
            </a:fld>
            <a:endParaRPr lang="en-US"/>
          </a:p>
        </p:txBody>
      </p:sp>
      <p:cxnSp>
        <p:nvCxnSpPr>
          <p:cNvPr id="9" name="Straight Connector 8">
            <a:extLst>
              <a:ext uri="{FF2B5EF4-FFF2-40B4-BE49-F238E27FC236}">
                <a16:creationId xmlns:a16="http://schemas.microsoft.com/office/drawing/2014/main" id="{838393CD-94B6-EC8A-E14F-A09689A25C51}"/>
              </a:ext>
              <a:ext uri="{C183D7F6-B498-43B3-948B-1728B52AA6E4}">
                <adec:decorative xmlns:adec="http://schemas.microsoft.com/office/drawing/2017/decorative" val="1"/>
              </a:ext>
            </a:extLst>
          </p:cNvPr>
          <p:cNvCxnSpPr>
            <a:cxnSpLocks/>
          </p:cNvCxnSpPr>
          <p:nvPr/>
        </p:nvCxnSpPr>
        <p:spPr>
          <a:xfrm>
            <a:off x="11503594" y="675861"/>
            <a:ext cx="0" cy="4184295"/>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8114196"/>
      </p:ext>
    </p:extLst>
  </p:cSld>
  <p:clrMapOvr>
    <a:masterClrMapping/>
  </p:clrMapOvr>
  <p:hf hdr="0" ftr="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 preserve="1">
  <p:cSld name="Statem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accent2">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5431" y="-785191"/>
            <a:ext cx="10981137" cy="640080"/>
          </a:xfrm>
          <a:noFill/>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337930" y="1649896"/>
            <a:ext cx="10169921" cy="4949687"/>
          </a:xfrm>
        </p:spPr>
        <p:txBody>
          <a:bodyPr anchor="b">
            <a:normAutofit/>
          </a:bodyPr>
          <a:lstStyle>
            <a:lvl1pPr marL="0" indent="0">
              <a:lnSpc>
                <a:spcPct val="80000"/>
              </a:lnSpc>
              <a:spcBef>
                <a:spcPts val="0"/>
              </a:spcBef>
              <a:buNone/>
              <a:defRPr sz="7200" cap="all" spc="-100" baseline="0">
                <a:solidFill>
                  <a:schemeClr val="accent1"/>
                </a:solidFill>
                <a:latin typeface="+mj-lt"/>
              </a:defRPr>
            </a:lvl1pPr>
            <a:lvl2pPr marL="457200" indent="0">
              <a:lnSpc>
                <a:spcPct val="80000"/>
              </a:lnSpc>
              <a:buNone/>
              <a:defRPr sz="7200" cap="all" baseline="0">
                <a:solidFill>
                  <a:schemeClr val="bg1"/>
                </a:solidFill>
                <a:latin typeface="+mj-lt"/>
              </a:defRPr>
            </a:lvl2pPr>
            <a:lvl3pPr marL="914400" indent="0">
              <a:lnSpc>
                <a:spcPct val="80000"/>
              </a:lnSpc>
              <a:buNone/>
              <a:defRPr sz="7200" cap="all" baseline="0">
                <a:solidFill>
                  <a:schemeClr val="bg1"/>
                </a:solidFill>
                <a:latin typeface="+mj-lt"/>
              </a:defRPr>
            </a:lvl3pPr>
            <a:lvl4pPr marL="1371600" indent="0">
              <a:lnSpc>
                <a:spcPct val="80000"/>
              </a:lnSpc>
              <a:buNone/>
              <a:defRPr sz="6600" cap="all" baseline="0">
                <a:solidFill>
                  <a:schemeClr val="bg1"/>
                </a:solidFill>
                <a:latin typeface="+mj-lt"/>
              </a:defRPr>
            </a:lvl4pPr>
            <a:lvl5pPr marL="1828800" indent="0">
              <a:lnSpc>
                <a:spcPct val="80000"/>
              </a:lnSpc>
              <a:buNone/>
              <a:defRPr sz="6600" cap="all" baseline="0">
                <a:solidFill>
                  <a:schemeClr val="bg1"/>
                </a:solidFill>
                <a:latin typeface="+mj-lt"/>
              </a:defRPr>
            </a:lvl5pPr>
          </a:lstStyle>
          <a:p>
            <a:pPr lvl="0"/>
            <a:r>
              <a:rPr lang="en-US" dirty="0"/>
              <a:t>Click to edit statement</a:t>
            </a:r>
          </a:p>
        </p:txBody>
      </p:sp>
      <p:cxnSp>
        <p:nvCxnSpPr>
          <p:cNvPr id="9" name="Straight Connector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926297" y="685800"/>
            <a:ext cx="10326757" cy="0"/>
          </a:xfrm>
          <a:prstGeom prst="line">
            <a:avLst/>
          </a:prstGeom>
          <a:ln w="12700">
            <a:solidFill>
              <a:schemeClr val="bg1">
                <a:alpha val="47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501227"/>
            <a:ext cx="1907799" cy="365125"/>
          </a:xfrm>
          <a:solidFill>
            <a:schemeClr val="accent2">
              <a:lumMod val="60000"/>
              <a:lumOff val="40000"/>
            </a:schemeClr>
          </a:solidFill>
        </p:spPr>
        <p:txBody>
          <a:bodyPr/>
          <a:lstStyle>
            <a:lvl1pPr>
              <a:defRPr b="0" spc="0">
                <a:solidFill>
                  <a:schemeClr val="bg1"/>
                </a:solidFill>
              </a:defRPr>
            </a:lvl1p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00458" y="501227"/>
            <a:ext cx="1256738" cy="365125"/>
          </a:xfrm>
          <a:solidFill>
            <a:schemeClr val="accent2">
              <a:lumMod val="60000"/>
              <a:lumOff val="40000"/>
            </a:schemeClr>
          </a:solidFill>
        </p:spPr>
        <p:txBody>
          <a:bodyPr/>
          <a:lstStyle>
            <a:lvl1pPr>
              <a:defRPr>
                <a:solidFill>
                  <a:schemeClr val="bg1"/>
                </a:solidFill>
              </a:defRPr>
            </a:lvl1pPr>
          </a:lstStyle>
          <a:p>
            <a:r>
              <a:rPr lang="en-US"/>
              <a:t>9/4/2026</a:t>
            </a:r>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157196" y="501227"/>
            <a:ext cx="429372" cy="365125"/>
          </a:xfrm>
          <a:solidFill>
            <a:schemeClr val="accent2">
              <a:lumMod val="60000"/>
              <a:lumOff val="40000"/>
            </a:schemeClr>
          </a:solidFill>
        </p:spPr>
        <p:txBody>
          <a:bodyPr/>
          <a:lstStyle>
            <a:lvl1pPr>
              <a:defRPr>
                <a:solidFill>
                  <a:schemeClr val="bg1"/>
                </a:solidFill>
              </a:defRPr>
            </a:lvl1pPr>
          </a:lstStyle>
          <a:p>
            <a:fld id="{2A70D941-57F8-4881-9B87-49647FCDA0D6}" type="slidenum">
              <a:rPr lang="en-US" smtClean="0"/>
              <a:t>‹#›</a:t>
            </a:fld>
            <a:endParaRPr lang="en-US"/>
          </a:p>
        </p:txBody>
      </p:sp>
    </p:spTree>
    <p:extLst>
      <p:ext uri="{BB962C8B-B14F-4D97-AF65-F5344CB8AC3E}">
        <p14:creationId xmlns:p14="http://schemas.microsoft.com/office/powerpoint/2010/main" val="1692908735"/>
      </p:ext>
    </p:extLst>
  </p:cSld>
  <p:clrMapOvr>
    <a:masterClrMapping/>
  </p:clrMapOvr>
  <p:hf hdr="0" ftr="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0" y="0"/>
            <a:ext cx="12191999" cy="6858001"/>
          </a:xfrm>
          <a:prstGeom prst="rect">
            <a:avLst/>
          </a:prstGeom>
          <a:solidFill>
            <a:schemeClr val="accent3">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8" name="Rectangle 7">
            <a:extLst>
              <a:ext uri="{FF2B5EF4-FFF2-40B4-BE49-F238E27FC236}">
                <a16:creationId xmlns:a16="http://schemas.microsoft.com/office/drawing/2014/main" id="{358D5F78-0179-D9C3-74D3-62CE152FFECE}"/>
              </a:ext>
              <a:ext uri="{C183D7F6-B498-43B3-948B-1728B52AA6E4}">
                <adec:decorative xmlns:adec="http://schemas.microsoft.com/office/drawing/2017/decorative" val="1"/>
              </a:ext>
            </a:extLst>
          </p:cNvPr>
          <p:cNvSpPr/>
          <p:nvPr/>
        </p:nvSpPr>
        <p:spPr>
          <a:xfrm>
            <a:off x="1" y="2"/>
            <a:ext cx="8763000" cy="5038338"/>
          </a:xfrm>
          <a:prstGeom prst="rect">
            <a:avLst/>
          </a:prstGeom>
          <a:solidFill>
            <a:schemeClr val="accent3">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ABB386FE-4A21-B72A-BB2B-D4FDFDC3ECA5}"/>
              </a:ext>
              <a:ext uri="{C183D7F6-B498-43B3-948B-1728B52AA6E4}">
                <adec:decorative xmlns:adec="http://schemas.microsoft.com/office/drawing/2017/decorative" val="1"/>
              </a:ext>
            </a:extLst>
          </p:cNvPr>
          <p:cNvCxnSpPr>
            <a:cxnSpLocks/>
          </p:cNvCxnSpPr>
          <p:nvPr/>
        </p:nvCxnSpPr>
        <p:spPr>
          <a:xfrm flipH="1">
            <a:off x="722427" y="6212437"/>
            <a:ext cx="10808612" cy="0"/>
          </a:xfrm>
          <a:prstGeom prst="line">
            <a:avLst/>
          </a:prstGeom>
          <a:ln w="12700">
            <a:solidFill>
              <a:schemeClr val="accent5">
                <a:alpha val="45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D4813FB1-9165-4DD7-C4C2-EAFC20602DB8}"/>
              </a:ext>
            </a:extLst>
          </p:cNvPr>
          <p:cNvSpPr>
            <a:spLocks noGrp="1"/>
          </p:cNvSpPr>
          <p:nvPr>
            <p:ph type="title" hasCustomPrompt="1"/>
          </p:nvPr>
        </p:nvSpPr>
        <p:spPr>
          <a:xfrm>
            <a:off x="4114800" y="5410203"/>
            <a:ext cx="7543800" cy="372746"/>
          </a:xfrm>
          <a:noFill/>
        </p:spPr>
        <p:txBody>
          <a:bodyPr tIns="91440" bIns="91440" anchor="ctr">
            <a:normAutofit/>
          </a:bodyPr>
          <a:lstStyle>
            <a:lvl1pPr algn="r">
              <a:defRPr sz="2000">
                <a:solidFill>
                  <a:schemeClr val="accent1"/>
                </a:solidFill>
              </a:defRPr>
            </a:lvl1pPr>
          </a:lstStyle>
          <a:p>
            <a:r>
              <a:rPr lang="en-US" dirty="0"/>
              <a:t>Quote Author</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603504" y="725556"/>
            <a:ext cx="8845296" cy="3656168"/>
          </a:xfrm>
        </p:spPr>
        <p:txBody>
          <a:bodyPr>
            <a:normAutofit/>
          </a:bodyPr>
          <a:lstStyle>
            <a:lvl1pPr marL="228600" indent="-228600">
              <a:lnSpc>
                <a:spcPct val="85000"/>
              </a:lnSpc>
              <a:spcBef>
                <a:spcPts val="0"/>
              </a:spcBef>
              <a:buNone/>
              <a:defRPr sz="5800" b="0" cap="all" spc="0" baseline="0">
                <a:solidFill>
                  <a:schemeClr val="accent5"/>
                </a:solidFill>
                <a:latin typeface="+mj-lt"/>
              </a:defRPr>
            </a:lvl1pPr>
          </a:lstStyle>
          <a:p>
            <a:pPr lvl="0"/>
            <a:r>
              <a:rPr lang="en-US" dirty="0"/>
              <a:t>Click to edit quote</a:t>
            </a:r>
          </a:p>
        </p:txBody>
      </p:sp>
      <p:sp>
        <p:nvSpPr>
          <p:cNvPr id="10" name="Footer Placeholder 9">
            <a:extLst>
              <a:ext uri="{FF2B5EF4-FFF2-40B4-BE49-F238E27FC236}">
                <a16:creationId xmlns:a16="http://schemas.microsoft.com/office/drawing/2014/main" id="{94F49A81-8721-B846-5567-52769C04D66C}"/>
              </a:ext>
            </a:extLst>
          </p:cNvPr>
          <p:cNvSpPr>
            <a:spLocks noGrp="1"/>
          </p:cNvSpPr>
          <p:nvPr>
            <p:ph type="ftr" sz="quarter" idx="11"/>
          </p:nvPr>
        </p:nvSpPr>
        <p:spPr>
          <a:xfrm>
            <a:off x="605430" y="6029868"/>
            <a:ext cx="1911096" cy="365125"/>
          </a:xfrm>
          <a:solidFill>
            <a:schemeClr val="accent3">
              <a:lumMod val="60000"/>
              <a:lumOff val="40000"/>
            </a:schemeClr>
          </a:solidFill>
        </p:spPr>
        <p:txBody>
          <a:bodyPr/>
          <a:lstStyle>
            <a:lvl1pPr>
              <a:defRPr b="0">
                <a:solidFill>
                  <a:schemeClr val="accent5"/>
                </a:solidFill>
                <a:latin typeface="+mn-lt"/>
              </a:defRPr>
            </a:lvl1pPr>
          </a:lstStyle>
          <a:p>
            <a:endParaRPr lang="en-US"/>
          </a:p>
        </p:txBody>
      </p:sp>
      <p:sp>
        <p:nvSpPr>
          <p:cNvPr id="9" name="Date Placeholder 8">
            <a:extLst>
              <a:ext uri="{FF2B5EF4-FFF2-40B4-BE49-F238E27FC236}">
                <a16:creationId xmlns:a16="http://schemas.microsoft.com/office/drawing/2014/main" id="{FB3E54B7-FFB1-7BFC-0189-A17360728C52}"/>
              </a:ext>
            </a:extLst>
          </p:cNvPr>
          <p:cNvSpPr>
            <a:spLocks noGrp="1"/>
          </p:cNvSpPr>
          <p:nvPr>
            <p:ph type="dt" sz="half" idx="10"/>
          </p:nvPr>
        </p:nvSpPr>
        <p:spPr>
          <a:xfrm>
            <a:off x="9802368" y="6029868"/>
            <a:ext cx="1435608" cy="365125"/>
          </a:xfrm>
          <a:solidFill>
            <a:schemeClr val="accent3">
              <a:lumMod val="60000"/>
              <a:lumOff val="40000"/>
            </a:schemeClr>
          </a:solidFill>
        </p:spPr>
        <p:txBody>
          <a:bodyPr/>
          <a:lstStyle>
            <a:lvl1pPr>
              <a:defRPr b="0">
                <a:solidFill>
                  <a:schemeClr val="accent5"/>
                </a:solidFill>
                <a:latin typeface="+mn-lt"/>
              </a:defRPr>
            </a:lvl1pPr>
          </a:lstStyle>
          <a:p>
            <a:r>
              <a:rPr lang="en-US"/>
              <a:t>9/4/2026</a:t>
            </a:r>
          </a:p>
        </p:txBody>
      </p:sp>
      <p:sp>
        <p:nvSpPr>
          <p:cNvPr id="11" name="Slide Number Placeholder 10">
            <a:extLst>
              <a:ext uri="{FF2B5EF4-FFF2-40B4-BE49-F238E27FC236}">
                <a16:creationId xmlns:a16="http://schemas.microsoft.com/office/drawing/2014/main" id="{D1DF2706-0EDF-0D3B-C01B-613E7D1BB6CC}"/>
              </a:ext>
            </a:extLst>
          </p:cNvPr>
          <p:cNvSpPr>
            <a:spLocks noGrp="1"/>
          </p:cNvSpPr>
          <p:nvPr>
            <p:ph type="sldNum" sz="quarter" idx="12"/>
          </p:nvPr>
        </p:nvSpPr>
        <p:spPr>
          <a:solidFill>
            <a:schemeClr val="accent3">
              <a:lumMod val="60000"/>
              <a:lumOff val="40000"/>
            </a:schemeClr>
          </a:solidFill>
        </p:spPr>
        <p:txBody>
          <a:bodyPr/>
          <a:lstStyle>
            <a:lvl1pPr>
              <a:defRPr b="0">
                <a:solidFill>
                  <a:schemeClr val="accent5"/>
                </a:solidFill>
                <a:latin typeface="+mn-lt"/>
              </a:defRPr>
            </a:lvl1pPr>
          </a:lstStyle>
          <a:p>
            <a:fld id="{2A70D941-57F8-4881-9B87-49647FCDA0D6}" type="slidenum">
              <a:rPr lang="en-US" smtClean="0"/>
              <a:t>‹#›</a:t>
            </a:fld>
            <a:endParaRPr lang="en-US"/>
          </a:p>
        </p:txBody>
      </p:sp>
    </p:spTree>
    <p:extLst>
      <p:ext uri="{BB962C8B-B14F-4D97-AF65-F5344CB8AC3E}">
        <p14:creationId xmlns:p14="http://schemas.microsoft.com/office/powerpoint/2010/main" val="3200684462"/>
      </p:ext>
    </p:extLst>
  </p:cSld>
  <p:clrMapOvr>
    <a:masterClrMapping/>
  </p:clrMapOvr>
  <p:hf hdr="0" ftr="0"/>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50773-1259-8F51-3561-DF3A80B264DE}"/>
              </a:ext>
            </a:extLst>
          </p:cNvPr>
          <p:cNvSpPr>
            <a:spLocks noGrp="1"/>
          </p:cNvSpPr>
          <p:nvPr>
            <p:ph type="title"/>
          </p:nvPr>
        </p:nvSpPr>
        <p:spPr>
          <a:xfrm>
            <a:off x="603504" y="521185"/>
            <a:ext cx="10902696" cy="1070849"/>
          </a:xfrm>
          <a:noFill/>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9C966CF-BE4B-28C8-6D17-E087E97C0E98}"/>
              </a:ext>
            </a:extLst>
          </p:cNvPr>
          <p:cNvSpPr>
            <a:spLocks noGrp="1"/>
          </p:cNvSpPr>
          <p:nvPr>
            <p:ph sz="half" idx="1"/>
          </p:nvPr>
        </p:nvSpPr>
        <p:spPr>
          <a:xfrm>
            <a:off x="605431" y="1756230"/>
            <a:ext cx="5181600" cy="40349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1559437-5037-4EE7-88FA-80C5AA0870F2}"/>
              </a:ext>
            </a:extLst>
          </p:cNvPr>
          <p:cNvSpPr>
            <a:spLocks noGrp="1"/>
          </p:cNvSpPr>
          <p:nvPr>
            <p:ph sz="half" idx="2"/>
          </p:nvPr>
        </p:nvSpPr>
        <p:spPr>
          <a:xfrm>
            <a:off x="6324600" y="1756230"/>
            <a:ext cx="5181600" cy="40349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68326746-DF44-9DEF-8471-A5E1F6CCC502}"/>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15850B58-64D5-F359-1AC8-3D57AA87BFBD}"/>
              </a:ext>
            </a:extLst>
          </p:cNvPr>
          <p:cNvSpPr>
            <a:spLocks noGrp="1"/>
          </p:cNvSpPr>
          <p:nvPr>
            <p:ph type="dt" sz="half" idx="10"/>
          </p:nvPr>
        </p:nvSpPr>
        <p:spPr/>
        <p:txBody>
          <a:bodyPr/>
          <a:lstStyle/>
          <a:p>
            <a:r>
              <a:rPr lang="en-US"/>
              <a:t>9/4/2026</a:t>
            </a:r>
          </a:p>
        </p:txBody>
      </p:sp>
      <p:sp>
        <p:nvSpPr>
          <p:cNvPr id="7" name="Slide Number Placeholder 6">
            <a:extLst>
              <a:ext uri="{FF2B5EF4-FFF2-40B4-BE49-F238E27FC236}">
                <a16:creationId xmlns:a16="http://schemas.microsoft.com/office/drawing/2014/main" id="{9F6A22FA-48E7-5BF5-6432-6C7A54D7E031}"/>
              </a:ext>
            </a:extLst>
          </p:cNvPr>
          <p:cNvSpPr>
            <a:spLocks noGrp="1"/>
          </p:cNvSpPr>
          <p:nvPr>
            <p:ph type="sldNum" sz="quarter" idx="12"/>
          </p:nvPr>
        </p:nvSpPr>
        <p:spPr/>
        <p:txBody>
          <a:bodyPr/>
          <a:lstStyle/>
          <a:p>
            <a:fld id="{2A70D941-57F8-4881-9B87-49647FCDA0D6}" type="slidenum">
              <a:rPr lang="en-US" smtClean="0"/>
              <a:t>‹#›</a:t>
            </a:fld>
            <a:endParaRPr lang="en-US"/>
          </a:p>
        </p:txBody>
      </p:sp>
    </p:spTree>
    <p:extLst>
      <p:ext uri="{BB962C8B-B14F-4D97-AF65-F5344CB8AC3E}">
        <p14:creationId xmlns:p14="http://schemas.microsoft.com/office/powerpoint/2010/main" val="2737338464"/>
      </p:ext>
    </p:extLst>
  </p:cSld>
  <p:clrMapOvr>
    <a:masterClrMapping/>
  </p:clrMapOvr>
  <p:hf hdr="0" ftr="0"/>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D8D87-72DE-A210-5C2D-570A1B01D41E}"/>
              </a:ext>
            </a:extLst>
          </p:cNvPr>
          <p:cNvSpPr>
            <a:spLocks noGrp="1"/>
          </p:cNvSpPr>
          <p:nvPr>
            <p:ph type="title"/>
          </p:nvPr>
        </p:nvSpPr>
        <p:spPr>
          <a:xfrm>
            <a:off x="603504" y="521206"/>
            <a:ext cx="10899648" cy="1069848"/>
          </a:xfrm>
          <a:noFill/>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73932A9-21A4-5A57-9D72-8C46993E6B11}"/>
              </a:ext>
            </a:extLst>
          </p:cNvPr>
          <p:cNvSpPr>
            <a:spLocks noGrp="1"/>
          </p:cNvSpPr>
          <p:nvPr>
            <p:ph type="body" idx="1"/>
          </p:nvPr>
        </p:nvSpPr>
        <p:spPr>
          <a:xfrm>
            <a:off x="605431" y="1631076"/>
            <a:ext cx="5157787" cy="709394"/>
          </a:xfrm>
        </p:spPr>
        <p:txBody>
          <a:bodyPr anchor="b">
            <a:normAutofit/>
          </a:bodyPr>
          <a:lstStyle>
            <a:lvl1pPr marL="0" indent="0">
              <a:buNone/>
              <a:defRPr sz="1800" b="1" cap="all" spc="5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83D4B4-A366-E12D-19BB-C17B71466184}"/>
              </a:ext>
            </a:extLst>
          </p:cNvPr>
          <p:cNvSpPr>
            <a:spLocks noGrp="1"/>
          </p:cNvSpPr>
          <p:nvPr>
            <p:ph sz="half" idx="2"/>
          </p:nvPr>
        </p:nvSpPr>
        <p:spPr>
          <a:xfrm>
            <a:off x="605431" y="2372146"/>
            <a:ext cx="5157787" cy="34952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BC06DAAF-1A05-D83C-70C1-CEADA4EB7389}"/>
              </a:ext>
            </a:extLst>
          </p:cNvPr>
          <p:cNvSpPr>
            <a:spLocks noGrp="1"/>
          </p:cNvSpPr>
          <p:nvPr>
            <p:ph type="body" sz="quarter" idx="3"/>
          </p:nvPr>
        </p:nvSpPr>
        <p:spPr>
          <a:xfrm>
            <a:off x="6324600" y="1631076"/>
            <a:ext cx="5183188" cy="709393"/>
          </a:xfrm>
        </p:spPr>
        <p:txBody>
          <a:bodyPr anchor="b">
            <a:normAutofit/>
          </a:bodyPr>
          <a:lstStyle>
            <a:lvl1pPr marL="0" indent="0">
              <a:buNone/>
              <a:defRPr sz="1800" b="1" cap="all" spc="5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FE7B13-3453-6313-B416-E9FF9DA2E010}"/>
              </a:ext>
            </a:extLst>
          </p:cNvPr>
          <p:cNvSpPr>
            <a:spLocks noGrp="1"/>
          </p:cNvSpPr>
          <p:nvPr>
            <p:ph sz="quarter" idx="4"/>
          </p:nvPr>
        </p:nvSpPr>
        <p:spPr>
          <a:xfrm>
            <a:off x="6324600" y="2372146"/>
            <a:ext cx="5183188" cy="34952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3061BE2D-E1A3-1A5C-AE37-9DC52A9717B7}"/>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71D5902D-DF04-F2A8-C2F8-EBDD2A897D21}"/>
              </a:ext>
            </a:extLst>
          </p:cNvPr>
          <p:cNvSpPr>
            <a:spLocks noGrp="1"/>
          </p:cNvSpPr>
          <p:nvPr>
            <p:ph type="dt" sz="half" idx="10"/>
          </p:nvPr>
        </p:nvSpPr>
        <p:spPr/>
        <p:txBody>
          <a:bodyPr/>
          <a:lstStyle/>
          <a:p>
            <a:r>
              <a:rPr lang="en-US"/>
              <a:t>9/4/2026</a:t>
            </a:r>
          </a:p>
        </p:txBody>
      </p:sp>
      <p:sp>
        <p:nvSpPr>
          <p:cNvPr id="9" name="Slide Number Placeholder 8">
            <a:extLst>
              <a:ext uri="{FF2B5EF4-FFF2-40B4-BE49-F238E27FC236}">
                <a16:creationId xmlns:a16="http://schemas.microsoft.com/office/drawing/2014/main" id="{DA4FDDA8-940A-B407-4EB2-85DC9BEDB476}"/>
              </a:ext>
            </a:extLst>
          </p:cNvPr>
          <p:cNvSpPr>
            <a:spLocks noGrp="1"/>
          </p:cNvSpPr>
          <p:nvPr>
            <p:ph type="sldNum" sz="quarter" idx="12"/>
          </p:nvPr>
        </p:nvSpPr>
        <p:spPr/>
        <p:txBody>
          <a:bodyPr/>
          <a:lstStyle/>
          <a:p>
            <a:fld id="{2A70D941-57F8-4881-9B87-49647FCDA0D6}" type="slidenum">
              <a:rPr lang="en-US" smtClean="0"/>
              <a:t>‹#›</a:t>
            </a:fld>
            <a:endParaRPr lang="en-US"/>
          </a:p>
        </p:txBody>
      </p:sp>
    </p:spTree>
    <p:extLst>
      <p:ext uri="{BB962C8B-B14F-4D97-AF65-F5344CB8AC3E}">
        <p14:creationId xmlns:p14="http://schemas.microsoft.com/office/powerpoint/2010/main" val="1568986070"/>
      </p:ext>
    </p:extLst>
  </p:cSld>
  <p:clrMapOvr>
    <a:masterClrMapping/>
  </p:clrMapOvr>
  <p:hf hdr="0" ftr="0"/>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151FC-CD6F-656F-54A8-59B782BEFB30}"/>
              </a:ext>
            </a:extLst>
          </p:cNvPr>
          <p:cNvSpPr>
            <a:spLocks noGrp="1"/>
          </p:cNvSpPr>
          <p:nvPr>
            <p:ph type="title"/>
          </p:nvPr>
        </p:nvSpPr>
        <p:spPr>
          <a:xfrm>
            <a:off x="603504" y="265176"/>
            <a:ext cx="11028923" cy="1325880"/>
          </a:xfrm>
          <a:noFill/>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D07D307A-FF1F-38A3-7DE5-F11DC31CA5B8}"/>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1E4C539B-20CB-8D83-0ECC-5F682BD06D6F}"/>
              </a:ext>
            </a:extLst>
          </p:cNvPr>
          <p:cNvSpPr>
            <a:spLocks noGrp="1"/>
          </p:cNvSpPr>
          <p:nvPr>
            <p:ph type="dt" sz="half" idx="10"/>
          </p:nvPr>
        </p:nvSpPr>
        <p:spPr/>
        <p:txBody>
          <a:bodyPr/>
          <a:lstStyle/>
          <a:p>
            <a:r>
              <a:rPr lang="en-US"/>
              <a:t>9/4/2026</a:t>
            </a:r>
          </a:p>
        </p:txBody>
      </p:sp>
      <p:sp>
        <p:nvSpPr>
          <p:cNvPr id="5" name="Slide Number Placeholder 4">
            <a:extLst>
              <a:ext uri="{FF2B5EF4-FFF2-40B4-BE49-F238E27FC236}">
                <a16:creationId xmlns:a16="http://schemas.microsoft.com/office/drawing/2014/main" id="{466EB674-912E-381A-49CE-08E49DFF46A7}"/>
              </a:ext>
            </a:extLst>
          </p:cNvPr>
          <p:cNvSpPr>
            <a:spLocks noGrp="1"/>
          </p:cNvSpPr>
          <p:nvPr>
            <p:ph type="sldNum" sz="quarter" idx="12"/>
          </p:nvPr>
        </p:nvSpPr>
        <p:spPr/>
        <p:txBody>
          <a:bodyPr/>
          <a:lstStyle/>
          <a:p>
            <a:fld id="{2A70D941-57F8-4881-9B87-49647FCDA0D6}" type="slidenum">
              <a:rPr lang="en-US" smtClean="0"/>
              <a:t>‹#›</a:t>
            </a:fld>
            <a:endParaRPr lang="en-US"/>
          </a:p>
        </p:txBody>
      </p:sp>
    </p:spTree>
    <p:extLst>
      <p:ext uri="{BB962C8B-B14F-4D97-AF65-F5344CB8AC3E}">
        <p14:creationId xmlns:p14="http://schemas.microsoft.com/office/powerpoint/2010/main" val="22799069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2FA0B77-3CB1-4071-30F6-B0766D75C10A}"/>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B4A81A7-FC7B-1689-D59F-4173A1763CB9}"/>
              </a:ext>
            </a:extLst>
          </p:cNvPr>
          <p:cNvSpPr>
            <a:spLocks noGrp="1"/>
          </p:cNvSpPr>
          <p:nvPr>
            <p:ph type="dt" sz="half" idx="10"/>
          </p:nvPr>
        </p:nvSpPr>
        <p:spPr/>
        <p:txBody>
          <a:bodyPr/>
          <a:lstStyle/>
          <a:p>
            <a:r>
              <a:rPr lang="en-US"/>
              <a:t>9/4/2026</a:t>
            </a:r>
          </a:p>
        </p:txBody>
      </p:sp>
      <p:sp>
        <p:nvSpPr>
          <p:cNvPr id="4" name="Slide Number Placeholder 3">
            <a:extLst>
              <a:ext uri="{FF2B5EF4-FFF2-40B4-BE49-F238E27FC236}">
                <a16:creationId xmlns:a16="http://schemas.microsoft.com/office/drawing/2014/main" id="{5D080D98-2C9A-3434-E8A3-DA6CCD2F5EFE}"/>
              </a:ext>
            </a:extLst>
          </p:cNvPr>
          <p:cNvSpPr>
            <a:spLocks noGrp="1"/>
          </p:cNvSpPr>
          <p:nvPr>
            <p:ph type="sldNum" sz="quarter" idx="12"/>
          </p:nvPr>
        </p:nvSpPr>
        <p:spPr/>
        <p:txBody>
          <a:bodyPr/>
          <a:lstStyle/>
          <a:p>
            <a:fld id="{2A70D941-57F8-4881-9B87-49647FCDA0D6}" type="slidenum">
              <a:rPr lang="en-US" smtClean="0"/>
              <a:t>‹#›</a:t>
            </a:fld>
            <a:endParaRPr lang="en-US"/>
          </a:p>
        </p:txBody>
      </p:sp>
    </p:spTree>
    <p:extLst>
      <p:ext uri="{BB962C8B-B14F-4D97-AF65-F5344CB8AC3E}">
        <p14:creationId xmlns:p14="http://schemas.microsoft.com/office/powerpoint/2010/main" val="26691248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8073289-DB44-2F27-575B-3B0123960D1D}"/>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F22766A-BE9C-B780-CC66-44ECFC5C0A47}"/>
              </a:ext>
              <a:ext uri="{C183D7F6-B498-43B3-948B-1728B52AA6E4}">
                <adec:decorative xmlns:adec="http://schemas.microsoft.com/office/drawing/2017/decorative" val="1"/>
              </a:ext>
            </a:extLst>
          </p:cNvPr>
          <p:cNvSpPr/>
          <p:nvPr/>
        </p:nvSpPr>
        <p:spPr>
          <a:xfrm>
            <a:off x="2057400" y="3084659"/>
            <a:ext cx="10133956" cy="3773341"/>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146306" y="182881"/>
            <a:ext cx="8616684" cy="1874520"/>
          </a:xfrm>
          <a:noFill/>
        </p:spPr>
        <p:txBody>
          <a:bodyPr anchor="t">
            <a:normAutofit/>
          </a:bodyPr>
          <a:lstStyle>
            <a:lvl1pPr>
              <a:defRPr sz="9600">
                <a:solidFill>
                  <a:schemeClr val="accent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753600" y="617923"/>
            <a:ext cx="1866897" cy="461881"/>
          </a:xfrm>
          <a:noFill/>
        </p:spPr>
        <p:txBody>
          <a:bodyPr anchor="t"/>
          <a:lstStyle>
            <a:lvl1pPr algn="r">
              <a:defRPr sz="900"/>
            </a:lvl1pPr>
          </a:lstStyle>
          <a:p>
            <a:endParaRPr lang="en-US"/>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2595846" y="3544866"/>
            <a:ext cx="8990722" cy="2446782"/>
          </a:xfrm>
        </p:spPr>
        <p:txBody>
          <a:bodyPr>
            <a:normAutofit/>
          </a:bodyPr>
          <a:lstStyle>
            <a:lvl1pPr marL="0" indent="0">
              <a:buClr>
                <a:schemeClr val="tx2"/>
              </a:buClr>
              <a:buFont typeface="Arial" panose="020B0604020202020204" pitchFamily="34" charset="0"/>
              <a:buNone/>
              <a:defRPr sz="1800"/>
            </a:lvl1pPr>
            <a:lvl2pPr marL="457200" indent="0">
              <a:buClr>
                <a:schemeClr val="tx2"/>
              </a:buClr>
              <a:buFont typeface="Arial" panose="020B0604020202020204" pitchFamily="34" charset="0"/>
              <a:buNone/>
              <a:defRPr sz="1600"/>
            </a:lvl2pPr>
            <a:lvl3pPr marL="914400" indent="0">
              <a:buClr>
                <a:schemeClr val="tx2"/>
              </a:buClr>
              <a:buFont typeface="Arial" panose="020B0604020202020204" pitchFamily="34" charset="0"/>
              <a:buNone/>
              <a:defRPr sz="1400"/>
            </a:lvl3pPr>
            <a:lvl4pPr marL="1371600" indent="0">
              <a:buClr>
                <a:schemeClr val="tx2"/>
              </a:buClr>
              <a:buFont typeface="Arial" panose="020B0604020202020204" pitchFamily="34" charset="0"/>
              <a:buNone/>
              <a:defRPr sz="1200"/>
            </a:lvl4pPr>
            <a:lvl5pPr marL="1828800" indent="0">
              <a:buClr>
                <a:schemeClr val="tx2"/>
              </a:buClr>
              <a:buFont typeface="Arial" panose="020B0604020202020204" pitchFamily="34" charse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2595846" y="6024816"/>
            <a:ext cx="1809495" cy="365125"/>
          </a:xfrm>
          <a:solidFill>
            <a:schemeClr val="bg2"/>
          </a:solidFill>
        </p:spPr>
        <p:txBody>
          <a:bodyPr/>
          <a:lstStyle>
            <a:lvl1pPr algn="l">
              <a:defRPr/>
            </a:lvl1pPr>
          </a:lstStyle>
          <a:p>
            <a:r>
              <a:rPr lang="en-US"/>
              <a:t>9/4/2026</a:t>
            </a:r>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solidFill>
            <a:schemeClr val="bg2"/>
          </a:solidFill>
        </p:spPr>
        <p:txBody>
          <a:bodyPr/>
          <a:lstStyle/>
          <a:p>
            <a:fld id="{2A70D941-57F8-4881-9B87-49647FCDA0D6}" type="slidenum">
              <a:rPr lang="en-US" smtClean="0"/>
              <a:t>‹#›</a:t>
            </a:fld>
            <a:endParaRPr lang="en-US"/>
          </a:p>
        </p:txBody>
      </p:sp>
    </p:spTree>
    <p:extLst>
      <p:ext uri="{BB962C8B-B14F-4D97-AF65-F5344CB8AC3E}">
        <p14:creationId xmlns:p14="http://schemas.microsoft.com/office/powerpoint/2010/main" val="3843827655"/>
      </p:ext>
    </p:extLst>
  </p:cSld>
  <p:clrMapOvr>
    <a:masterClrMapping/>
  </p:clrMapOvr>
  <p:hf hdr="0" ftr="0"/>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8073289-DB44-2F27-575B-3B0123960D1D}"/>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72AC4BE-2FD3-AAF4-8A1B-0633F1BEE33B}"/>
              </a:ext>
              <a:ext uri="{C183D7F6-B498-43B3-948B-1728B52AA6E4}">
                <adec:decorative xmlns:adec="http://schemas.microsoft.com/office/drawing/2017/decorative" val="1"/>
              </a:ext>
            </a:extLst>
          </p:cNvPr>
          <p:cNvSpPr/>
          <p:nvPr/>
        </p:nvSpPr>
        <p:spPr>
          <a:xfrm>
            <a:off x="0" y="0"/>
            <a:ext cx="8436077" cy="2057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7652D305-42E1-E86E-632C-9DFD4F747E62}"/>
              </a:ext>
              <a:ext uri="{C183D7F6-B498-43B3-948B-1728B52AA6E4}">
                <adec:decorative xmlns:adec="http://schemas.microsoft.com/office/drawing/2017/decorative" val="1"/>
              </a:ext>
            </a:extLst>
          </p:cNvPr>
          <p:cNvCxnSpPr>
            <a:cxnSpLocks/>
          </p:cNvCxnSpPr>
          <p:nvPr/>
        </p:nvCxnSpPr>
        <p:spPr>
          <a:xfrm>
            <a:off x="685800" y="4564627"/>
            <a:ext cx="5068016"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373625" y="530940"/>
            <a:ext cx="7703576" cy="1308290"/>
          </a:xfrm>
          <a:noFill/>
        </p:spPr>
        <p:txBody>
          <a:bodyPr anchor="t">
            <a:normAutofit/>
          </a:bodyPr>
          <a:lstStyle>
            <a:lvl1pPr>
              <a:defRPr sz="8000">
                <a:solidFill>
                  <a:schemeClr val="accent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37005" y="3571531"/>
            <a:ext cx="5009534" cy="1987694"/>
          </a:xfrm>
        </p:spPr>
        <p:txBody>
          <a:bodyPr anchor="ctr">
            <a:normAutofit/>
          </a:bodyPr>
          <a:lstStyle>
            <a:lvl1pPr marL="0" indent="0">
              <a:buClr>
                <a:schemeClr val="tx2"/>
              </a:buClr>
              <a:buFont typeface="Arial" panose="020B0604020202020204" pitchFamily="34" charset="0"/>
              <a:buNone/>
              <a:defRPr sz="1800"/>
            </a:lvl1pPr>
            <a:lvl2pPr marL="457200" indent="0">
              <a:buClr>
                <a:schemeClr val="tx2"/>
              </a:buClr>
              <a:buFont typeface="Arial" panose="020B0604020202020204" pitchFamily="34" charset="0"/>
              <a:buNone/>
              <a:defRPr sz="1600"/>
            </a:lvl2pPr>
            <a:lvl3pPr marL="914400" indent="0">
              <a:buClr>
                <a:schemeClr val="tx2"/>
              </a:buClr>
              <a:buFont typeface="Arial" panose="020B0604020202020204" pitchFamily="34" charset="0"/>
              <a:buNone/>
              <a:defRPr sz="1400"/>
            </a:lvl3pPr>
            <a:lvl4pPr marL="1371600" indent="0">
              <a:buClr>
                <a:schemeClr val="tx2"/>
              </a:buClr>
              <a:buFont typeface="Arial" panose="020B0604020202020204" pitchFamily="34" charset="0"/>
              <a:buNone/>
              <a:defRPr sz="1200"/>
            </a:lvl4pPr>
            <a:lvl5pPr marL="1828800" indent="0">
              <a:buClr>
                <a:schemeClr val="tx2"/>
              </a:buClr>
              <a:buFont typeface="Arial" panose="020B0604020202020204" pitchFamily="34" charse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0" y="6029867"/>
            <a:ext cx="1911096" cy="365126"/>
          </a:xfrm>
          <a:noFill/>
        </p:spPr>
        <p:txBody>
          <a:bodyPr anchor="ctr"/>
          <a:lstStyle>
            <a:lvl1pPr algn="l">
              <a:defRPr sz="900" b="1"/>
            </a:lvl1pPr>
          </a:lstStyle>
          <a:p>
            <a:endParaRPr lang="en-US"/>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799320" y="6029867"/>
            <a:ext cx="1441766" cy="365125"/>
          </a:xfrm>
          <a:noFill/>
        </p:spPr>
        <p:txBody>
          <a:bodyPr/>
          <a:lstStyle>
            <a:lvl1pPr algn="r">
              <a:defRPr/>
            </a:lvl1pPr>
          </a:lstStyle>
          <a:p>
            <a:r>
              <a:rPr lang="en-US"/>
              <a:t>9/4/2026</a:t>
            </a:r>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2A70D941-57F8-4881-9B87-49647FCDA0D6}" type="slidenum">
              <a:rPr lang="en-US" smtClean="0"/>
              <a:t>‹#›</a:t>
            </a:fld>
            <a:endParaRPr lang="en-US"/>
          </a:p>
        </p:txBody>
      </p:sp>
    </p:spTree>
    <p:extLst>
      <p:ext uri="{BB962C8B-B14F-4D97-AF65-F5344CB8AC3E}">
        <p14:creationId xmlns:p14="http://schemas.microsoft.com/office/powerpoint/2010/main" val="1386796232"/>
      </p:ext>
    </p:extLst>
  </p:cSld>
  <p:clrMapOvr>
    <a:masterClrMapping/>
  </p:clrMapOvr>
  <p:hf hdr="0" ftr="0"/>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1_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420623"/>
            <a:ext cx="4494189" cy="132588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975104"/>
            <a:ext cx="4494063" cy="4156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6" y="6343955"/>
            <a:ext cx="2098620" cy="365125"/>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213651" y="6343955"/>
            <a:ext cx="1573037" cy="365125"/>
          </a:xfrm>
        </p:spPr>
        <p:txBody>
          <a:bodyPr/>
          <a:lstStyle/>
          <a:p>
            <a:r>
              <a:rPr lang="en-US"/>
              <a:t>9/4/2026</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796658" y="6343955"/>
            <a:ext cx="429207" cy="365125"/>
          </a:xfrm>
        </p:spPr>
        <p:txBody>
          <a:bodyPr/>
          <a:lstStyle>
            <a:lvl1pPr>
              <a:defRPr>
                <a:solidFill>
                  <a:schemeClr val="tx1"/>
                </a:solidFill>
                <a:effectLst/>
              </a:defRPr>
            </a:lvl1pPr>
          </a:lstStyle>
          <a:p>
            <a:fld id="{2A70D941-57F8-4881-9B87-49647FCDA0D6}"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77363079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1_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12398"/>
            <a:ext cx="4637269"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lstStyle/>
          <a:p>
            <a:endParaRPr lang="en-US"/>
          </a:p>
        </p:txBody>
      </p:sp>
      <p:sp>
        <p:nvSpPr>
          <p:cNvPr id="5" name="Picture Placeholder 4">
            <a:extLst>
              <a:ext uri="{FF2B5EF4-FFF2-40B4-BE49-F238E27FC236}">
                <a16:creationId xmlns:a16="http://schemas.microsoft.com/office/drawing/2014/main" id="{EC8422D5-19BC-1CA0-FD0B-D86260BAA322}"/>
              </a:ext>
            </a:extLst>
          </p:cNvPr>
          <p:cNvSpPr>
            <a:spLocks noGrp="1"/>
          </p:cNvSpPr>
          <p:nvPr>
            <p:ph type="pic" sz="quarter" idx="18" hasCustomPrompt="1"/>
          </p:nvPr>
        </p:nvSpPr>
        <p:spPr>
          <a:xfrm>
            <a:off x="5737221" y="1912938"/>
            <a:ext cx="5741992" cy="4224337"/>
          </a:xfrm>
          <a:blipFill>
            <a:blip r:embed="rId2">
              <a:alphaModFix amt="60000"/>
            </a:blip>
            <a:stretch>
              <a:fillRect/>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lstStyle/>
          <a:p>
            <a:r>
              <a:rPr lang="en-US"/>
              <a:t>9/4/2026</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lstStyle/>
          <a:p>
            <a:fld id="{2A70D941-57F8-4881-9B87-49647FCDA0D6}" type="slidenum">
              <a:rPr lang="en-US" smtClean="0"/>
              <a:t>‹#›</a:t>
            </a:fld>
            <a:endParaRPr lang="en-US"/>
          </a:p>
        </p:txBody>
      </p:sp>
    </p:spTree>
    <p:extLst>
      <p:ext uri="{BB962C8B-B14F-4D97-AF65-F5344CB8AC3E}">
        <p14:creationId xmlns:p14="http://schemas.microsoft.com/office/powerpoint/2010/main" val="370171703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27BF6-CDFA-AAF4-F7FD-F4F8D06FF275}"/>
              </a:ext>
            </a:extLst>
          </p:cNvPr>
          <p:cNvSpPr>
            <a:spLocks noGrp="1"/>
          </p:cNvSpPr>
          <p:nvPr>
            <p:ph type="title"/>
          </p:nvPr>
        </p:nvSpPr>
        <p:spPr>
          <a:xfrm>
            <a:off x="457200" y="275309"/>
            <a:ext cx="11277600" cy="914400"/>
          </a:xfrm>
        </p:spPr>
        <p:txBody>
          <a:bodyPr anchor="ctr"/>
          <a:lstStyle>
            <a:lvl1pPr>
              <a:defRPr>
                <a:solidFill>
                  <a:schemeClr val="tx2"/>
                </a:solidFill>
              </a:defRPr>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6EAB1904-05A3-AF54-90B7-8B4E5E9BFC62}"/>
              </a:ext>
            </a:extLst>
          </p:cNvPr>
          <p:cNvSpPr>
            <a:spLocks noGrp="1"/>
          </p:cNvSpPr>
          <p:nvPr>
            <p:ph sz="quarter" idx="15"/>
          </p:nvPr>
        </p:nvSpPr>
        <p:spPr>
          <a:xfrm>
            <a:off x="455613" y="1677988"/>
            <a:ext cx="5181600" cy="4498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1">
            <a:extLst>
              <a:ext uri="{FF2B5EF4-FFF2-40B4-BE49-F238E27FC236}">
                <a16:creationId xmlns:a16="http://schemas.microsoft.com/office/drawing/2014/main" id="{0D15555F-2C1E-04D7-CE37-D06ABFB5685F}"/>
              </a:ext>
            </a:extLst>
          </p:cNvPr>
          <p:cNvSpPr>
            <a:spLocks noGrp="1"/>
          </p:cNvSpPr>
          <p:nvPr>
            <p:ph sz="quarter" idx="16"/>
          </p:nvPr>
        </p:nvSpPr>
        <p:spPr>
          <a:xfrm>
            <a:off x="6553200" y="1677988"/>
            <a:ext cx="5180013" cy="4498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1B108197-F703-726D-4372-C7520052DC70}"/>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F85FAA39-5E1E-3A94-5A04-C36BA19E34ED}"/>
              </a:ext>
            </a:extLst>
          </p:cNvPr>
          <p:cNvSpPr>
            <a:spLocks noGrp="1"/>
          </p:cNvSpPr>
          <p:nvPr>
            <p:ph type="dt" sz="half" idx="10"/>
          </p:nvPr>
        </p:nvSpPr>
        <p:spPr/>
        <p:txBody>
          <a:bodyPr/>
          <a:lstStyle/>
          <a:p>
            <a:r>
              <a:rPr lang="en-US"/>
              <a:t>9/4/2026</a:t>
            </a:r>
          </a:p>
        </p:txBody>
      </p:sp>
      <p:sp>
        <p:nvSpPr>
          <p:cNvPr id="7" name="Slide Number Placeholder 6">
            <a:extLst>
              <a:ext uri="{FF2B5EF4-FFF2-40B4-BE49-F238E27FC236}">
                <a16:creationId xmlns:a16="http://schemas.microsoft.com/office/drawing/2014/main" id="{ACE80595-19B6-01B9-FCF5-F94B0C1BBAA2}"/>
              </a:ext>
            </a:extLst>
          </p:cNvPr>
          <p:cNvSpPr>
            <a:spLocks noGrp="1"/>
          </p:cNvSpPr>
          <p:nvPr>
            <p:ph type="sldNum" sz="quarter" idx="12"/>
          </p:nvPr>
        </p:nvSpPr>
        <p:spPr/>
        <p:txBody>
          <a:bodyPr/>
          <a:lstStyle/>
          <a:p>
            <a:fld id="{2A70D941-57F8-4881-9B87-49647FCDA0D6}" type="slidenum">
              <a:rPr lang="en-US" smtClean="0"/>
              <a:t>‹#›</a:t>
            </a:fld>
            <a:endParaRPr lang="en-US"/>
          </a:p>
        </p:txBody>
      </p:sp>
    </p:spTree>
    <p:extLst>
      <p:ext uri="{BB962C8B-B14F-4D97-AF65-F5344CB8AC3E}">
        <p14:creationId xmlns:p14="http://schemas.microsoft.com/office/powerpoint/2010/main" val="322620636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1_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429768"/>
            <a:ext cx="3657600" cy="1667226"/>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3" y="2315569"/>
            <a:ext cx="3657600" cy="3814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1637337" cy="365125"/>
          </a:xfr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703447" y="6343955"/>
            <a:ext cx="949766" cy="365125"/>
          </a:xfrm>
        </p:spPr>
        <p:txBody>
          <a:bodyPr/>
          <a:lstStyle/>
          <a:p>
            <a:r>
              <a:rPr lang="en-US"/>
              <a:t>9/4/2026</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653213" y="6343955"/>
            <a:ext cx="429207" cy="365125"/>
          </a:xfrm>
        </p:spPr>
        <p:txBody>
          <a:bodyPr/>
          <a:lstStyle/>
          <a:p>
            <a:fld id="{2A70D941-57F8-4881-9B87-49647FCDA0D6}"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895088" y="0"/>
            <a:ext cx="729691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8929500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1_Statemen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693103" y="1493520"/>
            <a:ext cx="8805794" cy="3911600"/>
          </a:xfrm>
        </p:spPr>
        <p:txBody>
          <a:bodyPr anchor="ctr">
            <a:normAutofit/>
          </a:bodyPr>
          <a:lstStyle>
            <a:lvl1pPr marL="0" indent="0" algn="ctr">
              <a:lnSpc>
                <a:spcPct val="110000"/>
              </a:lnSpc>
              <a:buNone/>
              <a:defRPr sz="5400" b="0">
                <a:solidFill>
                  <a:schemeClr val="tx2"/>
                </a:solidFill>
                <a:latin typeface="+mj-lt"/>
              </a:defRPr>
            </a:lvl1pPr>
            <a:lvl2pPr marL="228600" indent="0" algn="ctr">
              <a:lnSpc>
                <a:spcPct val="110000"/>
              </a:lnSpc>
              <a:buNone/>
              <a:defRPr sz="4800" b="0">
                <a:solidFill>
                  <a:schemeClr val="tx2"/>
                </a:solidFill>
                <a:latin typeface="+mj-lt"/>
              </a:defRPr>
            </a:lvl2pPr>
            <a:lvl3pPr marL="457200" indent="0" algn="ctr">
              <a:lnSpc>
                <a:spcPct val="110000"/>
              </a:lnSpc>
              <a:buNone/>
              <a:defRPr sz="4400" b="0">
                <a:solidFill>
                  <a:schemeClr val="tx2"/>
                </a:solidFill>
                <a:latin typeface="+mj-lt"/>
              </a:defRPr>
            </a:lvl3pPr>
            <a:lvl4pPr marL="685800" indent="0" algn="ctr">
              <a:lnSpc>
                <a:spcPct val="110000"/>
              </a:lnSpc>
              <a:buNone/>
              <a:defRPr sz="4000" b="0">
                <a:solidFill>
                  <a:schemeClr val="tx2"/>
                </a:solidFill>
                <a:latin typeface="+mj-lt"/>
              </a:defRPr>
            </a:lvl4pPr>
            <a:lvl5pPr marL="914400" indent="0" algn="ctr">
              <a:lnSpc>
                <a:spcPct val="110000"/>
              </a:lnSpc>
              <a:buNone/>
              <a:defRPr sz="3600" b="0">
                <a:solidFill>
                  <a:schemeClr val="tx2"/>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640080" y="6445997"/>
            <a:ext cx="3949302" cy="365125"/>
          </a:xfrm>
        </p:spPr>
        <p:txBody>
          <a:bodyPr/>
          <a:lstStyle>
            <a:lvl1pPr>
              <a:defRPr>
                <a:solidFill>
                  <a:schemeClr val="tx2"/>
                </a:solidFill>
              </a:defRPr>
            </a:lvl1p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r>
              <a:rPr lang="en-US"/>
              <a:t>9/4/2026</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2A70D941-57F8-4881-9B87-49647FCDA0D6}" type="slidenum">
              <a:rPr lang="en-US" smtClean="0"/>
              <a:t>‹#›</a:t>
            </a:fld>
            <a:endParaRPr lang="en-US"/>
          </a:p>
        </p:txBody>
      </p:sp>
    </p:spTree>
    <p:extLst>
      <p:ext uri="{BB962C8B-B14F-4D97-AF65-F5344CB8AC3E}">
        <p14:creationId xmlns:p14="http://schemas.microsoft.com/office/powerpoint/2010/main" val="2806351628"/>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FBAF5C3-82B6-427E-5D2E-900A2D90AD99}"/>
              </a:ext>
              <a:ext uri="{C183D7F6-B498-43B3-948B-1728B52AA6E4}">
                <adec:decorative xmlns:adec="http://schemas.microsoft.com/office/drawing/2017/decorative" val="1"/>
              </a:ext>
            </a:extLst>
          </p:cNvPr>
          <p:cNvCxnSpPr>
            <a:cxnSpLocks/>
          </p:cNvCxnSpPr>
          <p:nvPr/>
        </p:nvCxnSpPr>
        <p:spPr>
          <a:xfrm flipH="1">
            <a:off x="722427" y="6212437"/>
            <a:ext cx="10808612"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01AA792-727F-F91C-6564-A882FAF11ED4}"/>
              </a:ext>
            </a:extLst>
          </p:cNvPr>
          <p:cNvSpPr>
            <a:spLocks noGrp="1"/>
          </p:cNvSpPr>
          <p:nvPr>
            <p:ph type="title"/>
          </p:nvPr>
        </p:nvSpPr>
        <p:spPr>
          <a:xfrm>
            <a:off x="603504" y="351270"/>
            <a:ext cx="10981137" cy="1239720"/>
          </a:xfrm>
          <a:prstGeom prst="rect">
            <a:avLst/>
          </a:prstGeom>
          <a:solidFill>
            <a:schemeClr val="bg1"/>
          </a:solidFill>
        </p:spPr>
        <p:txBody>
          <a:bodyPr vert="horz" lIns="91440" tIns="45720" rIns="91440" bIns="13716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390A246-77A4-EC4C-28B8-90388BB8E78F}"/>
              </a:ext>
            </a:extLst>
          </p:cNvPr>
          <p:cNvSpPr>
            <a:spLocks noGrp="1"/>
          </p:cNvSpPr>
          <p:nvPr>
            <p:ph type="body" idx="1"/>
          </p:nvPr>
        </p:nvSpPr>
        <p:spPr>
          <a:xfrm>
            <a:off x="605431" y="1745956"/>
            <a:ext cx="10981137" cy="39834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3EF6714-5B6F-439F-4173-D51823712315}"/>
              </a:ext>
            </a:extLst>
          </p:cNvPr>
          <p:cNvSpPr>
            <a:spLocks noGrp="1"/>
          </p:cNvSpPr>
          <p:nvPr>
            <p:ph type="ftr" sz="quarter" idx="3"/>
          </p:nvPr>
        </p:nvSpPr>
        <p:spPr>
          <a:xfrm>
            <a:off x="605430" y="6029868"/>
            <a:ext cx="1911096" cy="365125"/>
          </a:xfrm>
          <a:prstGeom prst="rect">
            <a:avLst/>
          </a:prstGeom>
          <a:solidFill>
            <a:schemeClr val="bg1"/>
          </a:solidFill>
        </p:spPr>
        <p:txBody>
          <a:bodyPr vert="horz" lIns="91440" tIns="45720" rIns="91440" bIns="45720" rtlCol="0" anchor="ctr"/>
          <a:lstStyle>
            <a:lvl1pPr algn="l">
              <a:defRPr sz="900" b="1" cap="all" spc="60" baseline="0">
                <a:solidFill>
                  <a:schemeClr val="tx2"/>
                </a:solidFill>
              </a:defRPr>
            </a:lvl1pPr>
          </a:lstStyle>
          <a:p>
            <a:endParaRPr lang="en-US"/>
          </a:p>
        </p:txBody>
      </p:sp>
      <p:sp>
        <p:nvSpPr>
          <p:cNvPr id="4" name="Date Placeholder 3">
            <a:extLst>
              <a:ext uri="{FF2B5EF4-FFF2-40B4-BE49-F238E27FC236}">
                <a16:creationId xmlns:a16="http://schemas.microsoft.com/office/drawing/2014/main" id="{BF9842E6-B4ED-431B-B1A0-22352BA620AE}"/>
              </a:ext>
            </a:extLst>
          </p:cNvPr>
          <p:cNvSpPr>
            <a:spLocks noGrp="1"/>
          </p:cNvSpPr>
          <p:nvPr>
            <p:ph type="dt" sz="half" idx="2"/>
          </p:nvPr>
        </p:nvSpPr>
        <p:spPr>
          <a:xfrm>
            <a:off x="10058400" y="6029868"/>
            <a:ext cx="1182686" cy="365125"/>
          </a:xfrm>
          <a:prstGeom prst="rect">
            <a:avLst/>
          </a:prstGeom>
          <a:solidFill>
            <a:schemeClr val="bg1"/>
          </a:solidFill>
        </p:spPr>
        <p:txBody>
          <a:bodyPr vert="horz" lIns="91440" tIns="45720" rIns="91440" bIns="45720" rtlCol="0" anchor="ctr"/>
          <a:lstStyle>
            <a:lvl1pPr algn="r">
              <a:defRPr sz="900" cap="all" baseline="0">
                <a:solidFill>
                  <a:schemeClr val="tx2"/>
                </a:solidFill>
              </a:defRPr>
            </a:lvl1pPr>
          </a:lstStyle>
          <a:p>
            <a:r>
              <a:rPr lang="en-US"/>
              <a:t>9/4/2026</a:t>
            </a:r>
          </a:p>
        </p:txBody>
      </p:sp>
      <p:sp>
        <p:nvSpPr>
          <p:cNvPr id="6" name="Slide Number Placeholder 5">
            <a:extLst>
              <a:ext uri="{FF2B5EF4-FFF2-40B4-BE49-F238E27FC236}">
                <a16:creationId xmlns:a16="http://schemas.microsoft.com/office/drawing/2014/main" id="{156743A1-0EE5-84FA-44EE-3CDDB793AAC4}"/>
              </a:ext>
            </a:extLst>
          </p:cNvPr>
          <p:cNvSpPr>
            <a:spLocks noGrp="1"/>
          </p:cNvSpPr>
          <p:nvPr>
            <p:ph type="sldNum" sz="quarter" idx="4"/>
          </p:nvPr>
        </p:nvSpPr>
        <p:spPr>
          <a:xfrm>
            <a:off x="11233434" y="6029868"/>
            <a:ext cx="429372" cy="365125"/>
          </a:xfrm>
          <a:prstGeom prst="rect">
            <a:avLst/>
          </a:prstGeom>
          <a:solidFill>
            <a:schemeClr val="bg1"/>
          </a:solidFill>
        </p:spPr>
        <p:txBody>
          <a:bodyPr vert="horz" lIns="91440" tIns="45720" rIns="91440" bIns="45720" rtlCol="0" anchor="ctr"/>
          <a:lstStyle>
            <a:lvl1pPr algn="r">
              <a:defRPr sz="900" cap="all" baseline="0">
                <a:solidFill>
                  <a:schemeClr val="tx2"/>
                </a:solidFill>
              </a:defRPr>
            </a:lvl1pPr>
          </a:lstStyle>
          <a:p>
            <a:fld id="{2A70D941-57F8-4881-9B87-49647FCDA0D6}" type="slidenum">
              <a:rPr lang="en-US" smtClean="0"/>
              <a:t>‹#›</a:t>
            </a:fld>
            <a:endParaRPr lang="en-US"/>
          </a:p>
        </p:txBody>
      </p:sp>
    </p:spTree>
    <p:extLst>
      <p:ext uri="{BB962C8B-B14F-4D97-AF65-F5344CB8AC3E}">
        <p14:creationId xmlns:p14="http://schemas.microsoft.com/office/powerpoint/2010/main" val="3662719397"/>
      </p:ext>
    </p:extLst>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 id="2147483817" r:id="rId12"/>
    <p:sldLayoutId id="2147483818" r:id="rId13"/>
    <p:sldLayoutId id="2147483819" r:id="rId14"/>
    <p:sldLayoutId id="2147483820" r:id="rId15"/>
    <p:sldLayoutId id="2147483821" r:id="rId16"/>
    <p:sldLayoutId id="2147483822" r:id="rId17"/>
    <p:sldLayoutId id="2147483823" r:id="rId18"/>
    <p:sldLayoutId id="2147483824" r:id="rId19"/>
    <p:sldLayoutId id="2147483825" r:id="rId20"/>
    <p:sldLayoutId id="2147483826" r:id="rId21"/>
    <p:sldLayoutId id="2147483827" r:id="rId22"/>
    <p:sldLayoutId id="2147483828" r:id="rId23"/>
    <p:sldLayoutId id="2147483829" r:id="rId24"/>
    <p:sldLayoutId id="2147483830" r:id="rId25"/>
    <p:sldLayoutId id="2147483831" r:id="rId26"/>
    <p:sldLayoutId id="2147483832" r:id="rId27"/>
    <p:sldLayoutId id="2147483833" r:id="rId28"/>
    <p:sldLayoutId id="2147483834" r:id="rId29"/>
    <p:sldLayoutId id="2147483835" r:id="rId30"/>
    <p:sldLayoutId id="2147483836" r:id="rId31"/>
    <p:sldLayoutId id="2147483837" r:id="rId32"/>
  </p:sldLayoutIdLst>
  <p:hf hdr="0" ftr="0"/>
  <p:txStyles>
    <p:titleStyle>
      <a:lvl1pPr marL="0" algn="l" defTabSz="914400" rtl="0" eaLnBrk="1" latinLnBrk="0" hangingPunct="1">
        <a:lnSpc>
          <a:spcPct val="100000"/>
        </a:lnSpc>
        <a:spcBef>
          <a:spcPct val="0"/>
        </a:spcBef>
        <a:spcAft>
          <a:spcPts val="0"/>
        </a:spcAft>
        <a:buNone/>
        <a:defRPr sz="2800" kern="1200" cap="all" baseline="0">
          <a:solidFill>
            <a:schemeClr val="accent5"/>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864">
          <p15:clr>
            <a:srgbClr val="F26B43"/>
          </p15:clr>
        </p15:guide>
        <p15:guide id="3" pos="432">
          <p15:clr>
            <a:srgbClr val="F26B43"/>
          </p15:clr>
        </p15:guide>
        <p15:guide id="4" orient="horz" pos="3912">
          <p15:clr>
            <a:srgbClr val="F26B43"/>
          </p15:clr>
        </p15:guide>
        <p15:guide id="5" orient="horz" pos="3504">
          <p15:clr>
            <a:srgbClr val="F26B43"/>
          </p15:clr>
        </p15:guide>
        <p15:guide id="6" orient="horz" pos="3024">
          <p15:clr>
            <a:srgbClr val="F26B43"/>
          </p15:clr>
        </p15:guide>
        <p15:guide id="7" orient="horz" pos="2592">
          <p15:clr>
            <a:srgbClr val="F26B43"/>
          </p15:clr>
        </p15:guide>
        <p15:guide id="8" orient="horz" pos="1728">
          <p15:clr>
            <a:srgbClr val="F26B43"/>
          </p15:clr>
        </p15:guide>
        <p15:guide id="9" orient="horz" pos="1296">
          <p15:clr>
            <a:srgbClr val="F26B43"/>
          </p15:clr>
        </p15:guide>
        <p15:guide id="10" orient="horz" pos="864">
          <p15:clr>
            <a:srgbClr val="F26B43"/>
          </p15:clr>
        </p15:guide>
        <p15:guide id="11" orient="horz" pos="432">
          <p15:clr>
            <a:srgbClr val="F26B43"/>
          </p15:clr>
        </p15:guide>
        <p15:guide id="12" pos="1296">
          <p15:clr>
            <a:srgbClr val="F26B43"/>
          </p15:clr>
        </p15:guide>
        <p15:guide id="13" pos="1728">
          <p15:clr>
            <a:srgbClr val="F26B43"/>
          </p15:clr>
        </p15:guide>
        <p15:guide id="18" pos="2160">
          <p15:clr>
            <a:srgbClr val="F26B43"/>
          </p15:clr>
        </p15:guide>
        <p15:guide id="20" pos="5520">
          <p15:clr>
            <a:srgbClr val="F26B43"/>
          </p15:clr>
        </p15:guide>
        <p15:guide id="21" pos="5952">
          <p15:clr>
            <a:srgbClr val="F26B43"/>
          </p15:clr>
        </p15:guide>
        <p15:guide id="22" pos="6384">
          <p15:clr>
            <a:srgbClr val="F26B43"/>
          </p15:clr>
        </p15:guide>
        <p15:guide id="24" pos="6816">
          <p15:clr>
            <a:srgbClr val="F26B43"/>
          </p15:clr>
        </p15:guide>
        <p15:guide id="25" pos="7248">
          <p15:clr>
            <a:srgbClr val="F26B43"/>
          </p15:clr>
        </p15:guide>
        <p15:guide id="26" pos="5088">
          <p15:clr>
            <a:srgbClr val="F26B43"/>
          </p15:clr>
        </p15:guide>
        <p15:guide id="27" pos="4656">
          <p15:clr>
            <a:srgbClr val="F26B43"/>
          </p15:clr>
        </p15:guide>
        <p15:guide id="28" pos="4224">
          <p15:clr>
            <a:srgbClr val="F26B43"/>
          </p15:clr>
        </p15:guide>
        <p15:guide id="29" pos="2592">
          <p15:clr>
            <a:srgbClr val="F26B43"/>
          </p15:clr>
        </p15:guide>
        <p15:guide id="30" pos="3024">
          <p15:clr>
            <a:srgbClr val="F26B43"/>
          </p15:clr>
        </p15:guide>
        <p15:guide id="31" pos="3456">
          <p15:clr>
            <a:srgbClr val="F26B43"/>
          </p15:clr>
        </p15:guide>
        <p15:guide id="32" orient="horz" pos="64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0.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1.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9D7D4-6141-0CEA-C7A9-F7B26DCF0D6A}"/>
              </a:ext>
            </a:extLst>
          </p:cNvPr>
          <p:cNvSpPr>
            <a:spLocks noGrp="1"/>
          </p:cNvSpPr>
          <p:nvPr>
            <p:ph type="ctrTitle"/>
          </p:nvPr>
        </p:nvSpPr>
        <p:spPr>
          <a:xfrm>
            <a:off x="2989006" y="2272216"/>
            <a:ext cx="6213988" cy="1042300"/>
          </a:xfrm>
        </p:spPr>
        <p:txBody>
          <a:bodyPr>
            <a:normAutofit/>
          </a:bodyPr>
          <a:lstStyle/>
          <a:p>
            <a:r>
              <a:rPr lang="en-US" sz="5400" dirty="0"/>
              <a:t>Graduation Project</a:t>
            </a:r>
          </a:p>
        </p:txBody>
      </p:sp>
      <p:sp>
        <p:nvSpPr>
          <p:cNvPr id="3" name="Subtitle 2">
            <a:extLst>
              <a:ext uri="{FF2B5EF4-FFF2-40B4-BE49-F238E27FC236}">
                <a16:creationId xmlns:a16="http://schemas.microsoft.com/office/drawing/2014/main" id="{2D8B7D74-2C8A-4375-DE89-4BD55CC4DF75}"/>
              </a:ext>
            </a:extLst>
          </p:cNvPr>
          <p:cNvSpPr>
            <a:spLocks noGrp="1"/>
          </p:cNvSpPr>
          <p:nvPr>
            <p:ph type="subTitle" idx="1"/>
          </p:nvPr>
        </p:nvSpPr>
        <p:spPr>
          <a:xfrm>
            <a:off x="4682640" y="3371051"/>
            <a:ext cx="2826720" cy="1417320"/>
          </a:xfrm>
        </p:spPr>
        <p:txBody>
          <a:bodyPr>
            <a:noAutofit/>
          </a:bodyPr>
          <a:lstStyle/>
          <a:p>
            <a:pPr algn="ctr"/>
            <a:r>
              <a:rPr lang="en-US" b="1" dirty="0"/>
              <a:t>EG-CompBio</a:t>
            </a:r>
          </a:p>
          <a:p>
            <a:pPr algn="ctr"/>
            <a:r>
              <a:rPr lang="en-US" b="1" dirty="0"/>
              <a:t>BCB Diploma SS2026</a:t>
            </a:r>
          </a:p>
          <a:p>
            <a:pPr algn="ctr"/>
            <a:r>
              <a:rPr lang="en-US" b="1" dirty="0"/>
              <a:t>DAV-R</a:t>
            </a:r>
          </a:p>
        </p:txBody>
      </p:sp>
      <p:sp>
        <p:nvSpPr>
          <p:cNvPr id="6" name="Date Placeholder 5">
            <a:extLst>
              <a:ext uri="{FF2B5EF4-FFF2-40B4-BE49-F238E27FC236}">
                <a16:creationId xmlns:a16="http://schemas.microsoft.com/office/drawing/2014/main" id="{09F3F404-50D8-F265-C3D6-42F44AD12C46}"/>
              </a:ext>
            </a:extLst>
          </p:cNvPr>
          <p:cNvSpPr>
            <a:spLocks noGrp="1"/>
          </p:cNvSpPr>
          <p:nvPr>
            <p:ph type="dt" sz="half" idx="10"/>
          </p:nvPr>
        </p:nvSpPr>
        <p:spPr/>
        <p:txBody>
          <a:bodyPr/>
          <a:lstStyle/>
          <a:p>
            <a:r>
              <a:rPr lang="en-US"/>
              <a:t>9/4/2026</a:t>
            </a:r>
          </a:p>
        </p:txBody>
      </p:sp>
      <p:sp>
        <p:nvSpPr>
          <p:cNvPr id="7" name="Slide Number Placeholder 6">
            <a:extLst>
              <a:ext uri="{FF2B5EF4-FFF2-40B4-BE49-F238E27FC236}">
                <a16:creationId xmlns:a16="http://schemas.microsoft.com/office/drawing/2014/main" id="{2F44E6E8-0E41-4FFC-E997-D23193C17F0E}"/>
              </a:ext>
            </a:extLst>
          </p:cNvPr>
          <p:cNvSpPr>
            <a:spLocks noGrp="1"/>
          </p:cNvSpPr>
          <p:nvPr>
            <p:ph type="sldNum" sz="quarter" idx="12"/>
          </p:nvPr>
        </p:nvSpPr>
        <p:spPr/>
        <p:txBody>
          <a:bodyPr/>
          <a:lstStyle/>
          <a:p>
            <a:fld id="{2A70D941-57F8-4881-9B87-49647FCDA0D6}" type="slidenum">
              <a:rPr lang="en-US" smtClean="0"/>
              <a:t>1</a:t>
            </a:fld>
            <a:endParaRPr lang="en-US"/>
          </a:p>
        </p:txBody>
      </p:sp>
      <p:sp>
        <p:nvSpPr>
          <p:cNvPr id="8" name="TextBox 7">
            <a:extLst>
              <a:ext uri="{FF2B5EF4-FFF2-40B4-BE49-F238E27FC236}">
                <a16:creationId xmlns:a16="http://schemas.microsoft.com/office/drawing/2014/main" id="{E45FB453-E0CC-B757-DBEB-AED10096D81E}"/>
              </a:ext>
            </a:extLst>
          </p:cNvPr>
          <p:cNvSpPr txBox="1"/>
          <p:nvPr/>
        </p:nvSpPr>
        <p:spPr>
          <a:xfrm>
            <a:off x="5068529" y="5331818"/>
            <a:ext cx="2054942" cy="369332"/>
          </a:xfrm>
          <a:prstGeom prst="rect">
            <a:avLst/>
          </a:prstGeom>
          <a:noFill/>
        </p:spPr>
        <p:txBody>
          <a:bodyPr wrap="square" rtlCol="0">
            <a:spAutoFit/>
          </a:bodyPr>
          <a:lstStyle/>
          <a:p>
            <a:pPr algn="ctr"/>
            <a:r>
              <a:rPr lang="en-US" b="1" dirty="0">
                <a:solidFill>
                  <a:schemeClr val="bg1">
                    <a:lumMod val="10000"/>
                  </a:schemeClr>
                </a:solidFill>
              </a:rPr>
              <a:t>By: Omar Khaled</a:t>
            </a:r>
          </a:p>
        </p:txBody>
      </p:sp>
    </p:spTree>
    <p:extLst>
      <p:ext uri="{BB962C8B-B14F-4D97-AF65-F5344CB8AC3E}">
        <p14:creationId xmlns:p14="http://schemas.microsoft.com/office/powerpoint/2010/main" val="18428235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C6A41-8B43-42E7-70A0-34467537DDD8}"/>
              </a:ext>
            </a:extLst>
          </p:cNvPr>
          <p:cNvSpPr>
            <a:spLocks noGrp="1"/>
          </p:cNvSpPr>
          <p:nvPr>
            <p:ph type="title"/>
          </p:nvPr>
        </p:nvSpPr>
        <p:spPr>
          <a:xfrm>
            <a:off x="612646" y="702920"/>
            <a:ext cx="10981137" cy="1325563"/>
          </a:xfrm>
        </p:spPr>
        <p:txBody>
          <a:bodyPr/>
          <a:lstStyle/>
          <a:p>
            <a:r>
              <a:rPr lang="en-US" dirty="0"/>
              <a:t>Disease we will discuses: Lung Adenocarcinoma (LUAD)</a:t>
            </a:r>
          </a:p>
        </p:txBody>
      </p:sp>
      <p:sp>
        <p:nvSpPr>
          <p:cNvPr id="3" name="Content Placeholder 2">
            <a:extLst>
              <a:ext uri="{FF2B5EF4-FFF2-40B4-BE49-F238E27FC236}">
                <a16:creationId xmlns:a16="http://schemas.microsoft.com/office/drawing/2014/main" id="{1406B38E-2C25-2EE1-8B57-A02FE40460D5}"/>
              </a:ext>
            </a:extLst>
          </p:cNvPr>
          <p:cNvSpPr>
            <a:spLocks noGrp="1"/>
          </p:cNvSpPr>
          <p:nvPr>
            <p:ph idx="1"/>
          </p:nvPr>
        </p:nvSpPr>
        <p:spPr>
          <a:xfrm>
            <a:off x="612646" y="2163478"/>
            <a:ext cx="10963656" cy="3245596"/>
          </a:xfrm>
        </p:spPr>
        <p:txBody>
          <a:bodyPr>
            <a:normAutofit/>
          </a:bodyPr>
          <a:lstStyle/>
          <a:p>
            <a:r>
              <a:rPr lang="en-US" dirty="0">
                <a:solidFill>
                  <a:schemeClr val="bg1">
                    <a:lumMod val="10000"/>
                  </a:schemeClr>
                </a:solidFill>
                <a:latin typeface="Times New Roman" panose="02020603050405020304" pitchFamily="18" charset="0"/>
                <a:cs typeface="Times New Roman" panose="02020603050405020304" pitchFamily="18" charset="0"/>
              </a:rPr>
              <a:t>Lung adenocarcinoma is the most common histologic subtype of lung cancer in the United States and worldwide, accounting for approximately 40% of all lung cancers.</a:t>
            </a:r>
          </a:p>
          <a:p>
            <a:r>
              <a:rPr lang="en-US" dirty="0">
                <a:solidFill>
                  <a:schemeClr val="bg1">
                    <a:lumMod val="10000"/>
                  </a:schemeClr>
                </a:solidFill>
                <a:latin typeface="Times New Roman" panose="02020603050405020304" pitchFamily="18" charset="0"/>
                <a:cs typeface="Times New Roman" panose="02020603050405020304" pitchFamily="18" charset="0"/>
              </a:rPr>
              <a:t>This cancer is classified within the broader category of non-small cell lung cancer (NSCLC), which comprises roughly 85% of all lung malignancies.</a:t>
            </a:r>
          </a:p>
          <a:p>
            <a:r>
              <a:rPr lang="en-US" dirty="0">
                <a:solidFill>
                  <a:schemeClr val="bg1">
                    <a:lumMod val="10000"/>
                  </a:schemeClr>
                </a:solidFill>
                <a:latin typeface="Times New Roman" panose="02020603050405020304" pitchFamily="18" charset="0"/>
                <a:cs typeface="Times New Roman" panose="02020603050405020304" pitchFamily="18" charset="0"/>
              </a:rPr>
              <a:t>Unlike squamous cell carcinoma, which is strongly associated with a central airway origin and heavy smoking, adenocarcinoma characteristically arises in the peripheral lung parenchyma. It exhibits a distinct molecular profile that now guides precision treatment selection.</a:t>
            </a:r>
          </a:p>
          <a:p>
            <a:r>
              <a:rPr lang="en-US" dirty="0">
                <a:solidFill>
                  <a:schemeClr val="bg1">
                    <a:lumMod val="10000"/>
                  </a:schemeClr>
                </a:solidFill>
                <a:latin typeface="Times New Roman" panose="02020603050405020304" pitchFamily="18" charset="0"/>
                <a:cs typeface="Times New Roman" panose="02020603050405020304" pitchFamily="18" charset="0"/>
              </a:rPr>
              <a:t>Lung adenocarcinoma remains the leading cause of cancer death in the United States, largely because most cases are diagnosed at an advanced stage. Early-stage disease is frequently asymptomatic and is often detected incidentally on imaging, most commonly on computed tomography (CT) scans obtained for other indications.</a:t>
            </a:r>
          </a:p>
        </p:txBody>
      </p:sp>
      <p:sp>
        <p:nvSpPr>
          <p:cNvPr id="4" name="Date Placeholder 3">
            <a:extLst>
              <a:ext uri="{FF2B5EF4-FFF2-40B4-BE49-F238E27FC236}">
                <a16:creationId xmlns:a16="http://schemas.microsoft.com/office/drawing/2014/main" id="{DB4EF2CB-CB86-02B4-5099-0F366EA249C9}"/>
              </a:ext>
            </a:extLst>
          </p:cNvPr>
          <p:cNvSpPr>
            <a:spLocks noGrp="1"/>
          </p:cNvSpPr>
          <p:nvPr>
            <p:ph type="dt" sz="half" idx="10"/>
          </p:nvPr>
        </p:nvSpPr>
        <p:spPr/>
        <p:txBody>
          <a:bodyPr/>
          <a:lstStyle/>
          <a:p>
            <a:r>
              <a:rPr lang="en-US"/>
              <a:t>9/4/2026</a:t>
            </a:r>
          </a:p>
        </p:txBody>
      </p:sp>
      <p:sp>
        <p:nvSpPr>
          <p:cNvPr id="5" name="Slide Number Placeholder 4">
            <a:extLst>
              <a:ext uri="{FF2B5EF4-FFF2-40B4-BE49-F238E27FC236}">
                <a16:creationId xmlns:a16="http://schemas.microsoft.com/office/drawing/2014/main" id="{D765A1E7-4490-4963-ACCA-93AB9AA7407E}"/>
              </a:ext>
            </a:extLst>
          </p:cNvPr>
          <p:cNvSpPr>
            <a:spLocks noGrp="1"/>
          </p:cNvSpPr>
          <p:nvPr>
            <p:ph type="sldNum" sz="quarter" idx="12"/>
          </p:nvPr>
        </p:nvSpPr>
        <p:spPr/>
        <p:txBody>
          <a:bodyPr/>
          <a:lstStyle/>
          <a:p>
            <a:fld id="{2A70D941-57F8-4881-9B87-49647FCDA0D6}" type="slidenum">
              <a:rPr lang="en-US" smtClean="0"/>
              <a:t>2</a:t>
            </a:fld>
            <a:endParaRPr lang="en-US"/>
          </a:p>
        </p:txBody>
      </p:sp>
    </p:spTree>
    <p:extLst>
      <p:ext uri="{BB962C8B-B14F-4D97-AF65-F5344CB8AC3E}">
        <p14:creationId xmlns:p14="http://schemas.microsoft.com/office/powerpoint/2010/main" val="3629806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32F2F-52E1-5136-E8F7-E4A427DF2E4D}"/>
              </a:ext>
            </a:extLst>
          </p:cNvPr>
          <p:cNvSpPr>
            <a:spLocks noGrp="1"/>
          </p:cNvSpPr>
          <p:nvPr>
            <p:ph type="title"/>
          </p:nvPr>
        </p:nvSpPr>
        <p:spPr/>
        <p:txBody>
          <a:bodyPr/>
          <a:lstStyle/>
          <a:p>
            <a:r>
              <a:rPr lang="en-US" dirty="0"/>
              <a:t>What is The Cancer Genome Atlas (TCGA) ?</a:t>
            </a:r>
          </a:p>
        </p:txBody>
      </p:sp>
      <p:sp>
        <p:nvSpPr>
          <p:cNvPr id="3" name="Content Placeholder 2">
            <a:extLst>
              <a:ext uri="{FF2B5EF4-FFF2-40B4-BE49-F238E27FC236}">
                <a16:creationId xmlns:a16="http://schemas.microsoft.com/office/drawing/2014/main" id="{A68C2027-CC9E-C6F7-6DF4-EF725CF28172}"/>
              </a:ext>
            </a:extLst>
          </p:cNvPr>
          <p:cNvSpPr>
            <a:spLocks noGrp="1"/>
          </p:cNvSpPr>
          <p:nvPr>
            <p:ph idx="1"/>
          </p:nvPr>
        </p:nvSpPr>
        <p:spPr/>
        <p:txBody>
          <a:bodyPr>
            <a:normAutofit/>
          </a:bodyPr>
          <a:lstStyle/>
          <a:p>
            <a:r>
              <a:rPr lang="en-US" dirty="0">
                <a:solidFill>
                  <a:schemeClr val="bg1">
                    <a:lumMod val="10000"/>
                  </a:schemeClr>
                </a:solidFill>
                <a:latin typeface="Times New Roman" panose="02020603050405020304" pitchFamily="18" charset="0"/>
                <a:cs typeface="Times New Roman" panose="02020603050405020304" pitchFamily="18" charset="0"/>
              </a:rPr>
              <a:t>Launched in </a:t>
            </a:r>
            <a:r>
              <a:rPr lang="en-US" b="1" dirty="0">
                <a:solidFill>
                  <a:schemeClr val="bg1">
                    <a:lumMod val="10000"/>
                  </a:schemeClr>
                </a:solidFill>
                <a:latin typeface="Times New Roman" panose="02020603050405020304" pitchFamily="18" charset="0"/>
                <a:cs typeface="Times New Roman" panose="02020603050405020304" pitchFamily="18" charset="0"/>
              </a:rPr>
              <a:t>2006</a:t>
            </a:r>
            <a:r>
              <a:rPr lang="en-US" dirty="0">
                <a:solidFill>
                  <a:schemeClr val="bg1">
                    <a:lumMod val="10000"/>
                  </a:schemeClr>
                </a:solidFill>
                <a:latin typeface="Times New Roman" panose="02020603050405020304" pitchFamily="18" charset="0"/>
                <a:cs typeface="Times New Roman" panose="02020603050405020304" pitchFamily="18" charset="0"/>
              </a:rPr>
              <a:t>, the project aimed to collect and analyze clinical and molecular data for over </a:t>
            </a:r>
            <a:r>
              <a:rPr lang="en-US" b="1" dirty="0">
                <a:solidFill>
                  <a:schemeClr val="bg1">
                    <a:lumMod val="10000"/>
                  </a:schemeClr>
                </a:solidFill>
                <a:latin typeface="Times New Roman" panose="02020603050405020304" pitchFamily="18" charset="0"/>
                <a:cs typeface="Times New Roman" panose="02020603050405020304" pitchFamily="18" charset="0"/>
              </a:rPr>
              <a:t>33 different tumor types</a:t>
            </a:r>
            <a:r>
              <a:rPr lang="en-US" dirty="0">
                <a:solidFill>
                  <a:schemeClr val="bg1">
                    <a:lumMod val="10000"/>
                  </a:schemeClr>
                </a:solidFill>
                <a:latin typeface="Times New Roman" panose="02020603050405020304" pitchFamily="18" charset="0"/>
                <a:cs typeface="Times New Roman" panose="02020603050405020304" pitchFamily="18" charset="0"/>
              </a:rPr>
              <a:t>, targeting approximately </a:t>
            </a:r>
            <a:r>
              <a:rPr lang="en-US" b="1" dirty="0">
                <a:solidFill>
                  <a:schemeClr val="bg1">
                    <a:lumMod val="10000"/>
                  </a:schemeClr>
                </a:solidFill>
                <a:latin typeface="Times New Roman" panose="02020603050405020304" pitchFamily="18" charset="0"/>
                <a:cs typeface="Times New Roman" panose="02020603050405020304" pitchFamily="18" charset="0"/>
              </a:rPr>
              <a:t>500 cases per tumor type</a:t>
            </a:r>
            <a:r>
              <a:rPr lang="en-US" dirty="0">
                <a:solidFill>
                  <a:schemeClr val="bg1">
                    <a:lumMod val="10000"/>
                  </a:schemeClr>
                </a:solidFill>
                <a:latin typeface="Times New Roman" panose="02020603050405020304" pitchFamily="18" charset="0"/>
                <a:cs typeface="Times New Roman" panose="02020603050405020304" pitchFamily="18" charset="0"/>
              </a:rPr>
              <a:t>. To date, it represents the most comprehensive repository of human cancer genomic data.</a:t>
            </a:r>
          </a:p>
          <a:p>
            <a:r>
              <a:rPr lang="en-US" dirty="0">
                <a:solidFill>
                  <a:schemeClr val="bg1">
                    <a:lumMod val="10000"/>
                  </a:schemeClr>
                </a:solidFill>
                <a:latin typeface="Times New Roman" panose="02020603050405020304" pitchFamily="18" charset="0"/>
                <a:cs typeface="Times New Roman" panose="02020603050405020304" pitchFamily="18" charset="0"/>
              </a:rPr>
              <a:t>The TCGA research network has compiled and made publicly available the clinical and molecular phenotypes of </a:t>
            </a:r>
            <a:r>
              <a:rPr lang="en-US" b="1" dirty="0">
                <a:solidFill>
                  <a:schemeClr val="bg1">
                    <a:lumMod val="10000"/>
                  </a:schemeClr>
                </a:solidFill>
                <a:latin typeface="Times New Roman" panose="02020603050405020304" pitchFamily="18" charset="0"/>
                <a:cs typeface="Times New Roman" panose="02020603050405020304" pitchFamily="18" charset="0"/>
              </a:rPr>
              <a:t>more than 10,000 tumor patients.</a:t>
            </a:r>
          </a:p>
          <a:p>
            <a:r>
              <a:rPr lang="en-US" dirty="0">
                <a:solidFill>
                  <a:schemeClr val="bg1">
                    <a:lumMod val="10000"/>
                  </a:schemeClr>
                </a:solidFill>
                <a:latin typeface="Times New Roman" panose="02020603050405020304" pitchFamily="18" charset="0"/>
                <a:cs typeface="Times New Roman" panose="02020603050405020304" pitchFamily="18" charset="0"/>
              </a:rPr>
              <a:t>The analyzed cases span a highly diverse pathological spectrum, including both </a:t>
            </a:r>
            <a:r>
              <a:rPr lang="en-US" b="1" dirty="0">
                <a:solidFill>
                  <a:schemeClr val="bg1">
                    <a:lumMod val="10000"/>
                  </a:schemeClr>
                </a:solidFill>
                <a:latin typeface="Times New Roman" panose="02020603050405020304" pitchFamily="18" charset="0"/>
                <a:cs typeface="Times New Roman" panose="02020603050405020304" pitchFamily="18" charset="0"/>
              </a:rPr>
              <a:t>solid and hematological tumors</a:t>
            </a:r>
            <a:r>
              <a:rPr lang="en-US" dirty="0">
                <a:solidFill>
                  <a:schemeClr val="bg1">
                    <a:lumMod val="10000"/>
                  </a:schemeClr>
                </a:solidFill>
                <a:latin typeface="Times New Roman" panose="02020603050405020304" pitchFamily="18" charset="0"/>
                <a:cs typeface="Times New Roman" panose="02020603050405020304" pitchFamily="18" charset="0"/>
              </a:rPr>
              <a:t> ranging from benign to metastatic, and from mildly to severely aggressive.</a:t>
            </a:r>
          </a:p>
          <a:p>
            <a:r>
              <a:rPr lang="en-US" dirty="0">
                <a:solidFill>
                  <a:schemeClr val="bg1">
                    <a:lumMod val="10000"/>
                  </a:schemeClr>
                </a:solidFill>
                <a:latin typeface="Times New Roman" panose="02020603050405020304" pitchFamily="18" charset="0"/>
                <a:cs typeface="Times New Roman" panose="02020603050405020304" pitchFamily="18" charset="0"/>
              </a:rPr>
              <a:t>For each patient case, DNA, RNA, and proteins are extracted to conduct </a:t>
            </a:r>
            <a:r>
              <a:rPr lang="en-US" b="1" dirty="0">
                <a:solidFill>
                  <a:schemeClr val="bg1">
                    <a:lumMod val="10000"/>
                  </a:schemeClr>
                </a:solidFill>
                <a:latin typeface="Times New Roman" panose="02020603050405020304" pitchFamily="18" charset="0"/>
                <a:cs typeface="Times New Roman" panose="02020603050405020304" pitchFamily="18" charset="0"/>
              </a:rPr>
              <a:t>genomic, transcriptomic, epigenomic, and proteomic profiling</a:t>
            </a:r>
            <a:r>
              <a:rPr lang="en-US" dirty="0">
                <a:solidFill>
                  <a:schemeClr val="bg1">
                    <a:lumMod val="10000"/>
                  </a:schemeClr>
                </a:solidFill>
                <a:latin typeface="Times New Roman" panose="02020603050405020304" pitchFamily="18" charset="0"/>
                <a:cs typeface="Times New Roman" panose="02020603050405020304" pitchFamily="18" charset="0"/>
              </a:rPr>
              <a:t> using technologies ranging from custom microarrays to large-scale sequencing.</a:t>
            </a:r>
          </a:p>
          <a:p>
            <a:r>
              <a:rPr lang="en-US" dirty="0">
                <a:solidFill>
                  <a:schemeClr val="bg1">
                    <a:lumMod val="10000"/>
                  </a:schemeClr>
                </a:solidFill>
                <a:latin typeface="Times New Roman" panose="02020603050405020304" pitchFamily="18" charset="0"/>
                <a:cs typeface="Times New Roman" panose="02020603050405020304" pitchFamily="18" charset="0"/>
              </a:rPr>
              <a:t>TCGA systematically organizes its database into three distinct tiers: </a:t>
            </a:r>
            <a:r>
              <a:rPr lang="en-US" b="1" dirty="0">
                <a:solidFill>
                  <a:schemeClr val="bg1">
                    <a:lumMod val="10000"/>
                  </a:schemeClr>
                </a:solidFill>
                <a:latin typeface="Times New Roman" panose="02020603050405020304" pitchFamily="18" charset="0"/>
                <a:cs typeface="Times New Roman" panose="02020603050405020304" pitchFamily="18" charset="0"/>
              </a:rPr>
              <a:t>raw (level 1)</a:t>
            </a:r>
            <a:r>
              <a:rPr lang="en-US" dirty="0">
                <a:solidFill>
                  <a:schemeClr val="bg1">
                    <a:lumMod val="10000"/>
                  </a:schemeClr>
                </a:solidFill>
                <a:latin typeface="Times New Roman" panose="02020603050405020304" pitchFamily="18" charset="0"/>
                <a:cs typeface="Times New Roman" panose="02020603050405020304" pitchFamily="18" charset="0"/>
              </a:rPr>
              <a:t>, </a:t>
            </a:r>
            <a:r>
              <a:rPr lang="en-US" b="1" dirty="0">
                <a:solidFill>
                  <a:schemeClr val="bg1">
                    <a:lumMod val="10000"/>
                  </a:schemeClr>
                </a:solidFill>
                <a:latin typeface="Times New Roman" panose="02020603050405020304" pitchFamily="18" charset="0"/>
                <a:cs typeface="Times New Roman" panose="02020603050405020304" pitchFamily="18" charset="0"/>
              </a:rPr>
              <a:t>processed (level 2)</a:t>
            </a:r>
            <a:r>
              <a:rPr lang="en-US" dirty="0">
                <a:solidFill>
                  <a:schemeClr val="bg1">
                    <a:lumMod val="10000"/>
                  </a:schemeClr>
                </a:solidFill>
                <a:latin typeface="Times New Roman" panose="02020603050405020304" pitchFamily="18" charset="0"/>
                <a:cs typeface="Times New Roman" panose="02020603050405020304" pitchFamily="18" charset="0"/>
              </a:rPr>
              <a:t>, and </a:t>
            </a:r>
            <a:r>
              <a:rPr lang="en-US" b="1" dirty="0">
                <a:solidFill>
                  <a:schemeClr val="bg1">
                    <a:lumMod val="10000"/>
                  </a:schemeClr>
                </a:solidFill>
                <a:latin typeface="Times New Roman" panose="02020603050405020304" pitchFamily="18" charset="0"/>
                <a:cs typeface="Times New Roman" panose="02020603050405020304" pitchFamily="18" charset="0"/>
              </a:rPr>
              <a:t>interpreted (level 3)</a:t>
            </a:r>
            <a:r>
              <a:rPr lang="en-US" dirty="0">
                <a:solidFill>
                  <a:schemeClr val="bg1">
                    <a:lumMod val="10000"/>
                  </a:schemeClr>
                </a:solidFill>
                <a:latin typeface="Times New Roman" panose="02020603050405020304" pitchFamily="18" charset="0"/>
                <a:cs typeface="Times New Roman" panose="02020603050405020304" pitchFamily="18" charset="0"/>
              </a:rPr>
              <a:t> data.</a:t>
            </a:r>
          </a:p>
          <a:p>
            <a:r>
              <a:rPr lang="en-US" dirty="0">
                <a:solidFill>
                  <a:schemeClr val="bg1">
                    <a:lumMod val="10000"/>
                  </a:schemeClr>
                </a:solidFill>
                <a:latin typeface="Times New Roman" panose="02020603050405020304" pitchFamily="18" charset="0"/>
                <a:cs typeface="Times New Roman" panose="02020603050405020304" pitchFamily="18" charset="0"/>
              </a:rPr>
              <a:t>The network has published </a:t>
            </a:r>
            <a:r>
              <a:rPr lang="en-US" b="1" dirty="0">
                <a:solidFill>
                  <a:schemeClr val="bg1">
                    <a:lumMod val="10000"/>
                  </a:schemeClr>
                </a:solidFill>
                <a:latin typeface="Times New Roman" panose="02020603050405020304" pitchFamily="18" charset="0"/>
                <a:cs typeface="Times New Roman" panose="02020603050405020304" pitchFamily="18" charset="0"/>
              </a:rPr>
              <a:t>over 20 landmark marker papers</a:t>
            </a:r>
            <a:r>
              <a:rPr lang="en-US" dirty="0">
                <a:solidFill>
                  <a:schemeClr val="bg1">
                    <a:lumMod val="10000"/>
                  </a:schemeClr>
                </a:solidFill>
                <a:latin typeface="Times New Roman" panose="02020603050405020304" pitchFamily="18" charset="0"/>
                <a:cs typeface="Times New Roman" panose="02020603050405020304" pitchFamily="18" charset="0"/>
              </a:rPr>
              <a:t> detailing cancer alterations. These have redefined prior tumor classifications and fueled the development of clinical prognostic and diagnostic biomarkers.</a:t>
            </a:r>
          </a:p>
        </p:txBody>
      </p:sp>
      <p:sp>
        <p:nvSpPr>
          <p:cNvPr id="4" name="Date Placeholder 3">
            <a:extLst>
              <a:ext uri="{FF2B5EF4-FFF2-40B4-BE49-F238E27FC236}">
                <a16:creationId xmlns:a16="http://schemas.microsoft.com/office/drawing/2014/main" id="{FC921D66-D0B4-EC75-06BE-08D22723300B}"/>
              </a:ext>
            </a:extLst>
          </p:cNvPr>
          <p:cNvSpPr>
            <a:spLocks noGrp="1"/>
          </p:cNvSpPr>
          <p:nvPr>
            <p:ph type="dt" sz="half" idx="10"/>
          </p:nvPr>
        </p:nvSpPr>
        <p:spPr/>
        <p:txBody>
          <a:bodyPr/>
          <a:lstStyle/>
          <a:p>
            <a:r>
              <a:rPr lang="en-US"/>
              <a:t>9/4/2026</a:t>
            </a:r>
          </a:p>
        </p:txBody>
      </p:sp>
      <p:sp>
        <p:nvSpPr>
          <p:cNvPr id="5" name="Slide Number Placeholder 4">
            <a:extLst>
              <a:ext uri="{FF2B5EF4-FFF2-40B4-BE49-F238E27FC236}">
                <a16:creationId xmlns:a16="http://schemas.microsoft.com/office/drawing/2014/main" id="{1E26FE4C-0051-B2F4-3072-09CFFB58A91C}"/>
              </a:ext>
            </a:extLst>
          </p:cNvPr>
          <p:cNvSpPr>
            <a:spLocks noGrp="1"/>
          </p:cNvSpPr>
          <p:nvPr>
            <p:ph type="sldNum" sz="quarter" idx="12"/>
          </p:nvPr>
        </p:nvSpPr>
        <p:spPr/>
        <p:txBody>
          <a:bodyPr/>
          <a:lstStyle/>
          <a:p>
            <a:fld id="{2A70D941-57F8-4881-9B87-49647FCDA0D6}" type="slidenum">
              <a:rPr lang="en-US" smtClean="0"/>
              <a:t>3</a:t>
            </a:fld>
            <a:endParaRPr lang="en-US"/>
          </a:p>
        </p:txBody>
      </p:sp>
    </p:spTree>
    <p:extLst>
      <p:ext uri="{BB962C8B-B14F-4D97-AF65-F5344CB8AC3E}">
        <p14:creationId xmlns:p14="http://schemas.microsoft.com/office/powerpoint/2010/main" val="149005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2D61F-78E4-DE7D-16CC-392CC367AA78}"/>
              </a:ext>
            </a:extLst>
          </p:cNvPr>
          <p:cNvSpPr>
            <a:spLocks noGrp="1"/>
          </p:cNvSpPr>
          <p:nvPr>
            <p:ph type="title"/>
          </p:nvPr>
        </p:nvSpPr>
        <p:spPr/>
        <p:txBody>
          <a:bodyPr/>
          <a:lstStyle/>
          <a:p>
            <a:r>
              <a:rPr lang="en-US" dirty="0"/>
              <a:t>Paper: TCGAbiolinks: an R/Bioconductor package for integrative analysis of TCGA data </a:t>
            </a:r>
          </a:p>
        </p:txBody>
      </p:sp>
      <p:sp>
        <p:nvSpPr>
          <p:cNvPr id="3" name="Content Placeholder 2">
            <a:extLst>
              <a:ext uri="{FF2B5EF4-FFF2-40B4-BE49-F238E27FC236}">
                <a16:creationId xmlns:a16="http://schemas.microsoft.com/office/drawing/2014/main" id="{9F0AFB71-678D-48BA-090E-2F6B0F0CFB06}"/>
              </a:ext>
            </a:extLst>
          </p:cNvPr>
          <p:cNvSpPr>
            <a:spLocks noGrp="1"/>
          </p:cNvSpPr>
          <p:nvPr>
            <p:ph idx="1"/>
          </p:nvPr>
        </p:nvSpPr>
        <p:spPr>
          <a:xfrm>
            <a:off x="796329" y="2405728"/>
            <a:ext cx="9941890" cy="4093090"/>
          </a:xfrm>
        </p:spPr>
        <p:txBody>
          <a:bodyPr>
            <a:normAutofit/>
          </a:bodyPr>
          <a:lstStyle/>
          <a:p>
            <a:r>
              <a:rPr lang="en-US" b="1" dirty="0">
                <a:latin typeface="Times New Roman" panose="02020603050405020304" pitchFamily="18" charset="0"/>
                <a:cs typeface="Times New Roman" panose="02020603050405020304" pitchFamily="18" charset="0"/>
              </a:rPr>
              <a:t>Integrative Multi-Omics Analysis</a:t>
            </a:r>
            <a:r>
              <a:rPr lang="en-US" dirty="0">
                <a:latin typeface="Times New Roman" panose="02020603050405020304" pitchFamily="18" charset="0"/>
                <a:cs typeface="Times New Roman" panose="02020603050405020304" pitchFamily="18" charset="0"/>
              </a:rPr>
              <a:t>: While older tools are restricted to downloading data or analyzing single platforms, TCGAbiolinks fully integrates diverse molecular datasets. It can combine DNA methylation with gene expression data to pinpoint epigenetically silenced genes (visualized via </a:t>
            </a:r>
            <a:r>
              <a:rPr lang="en-US" b="1" dirty="0">
                <a:latin typeface="Times New Roman" panose="02020603050405020304" pitchFamily="18" charset="0"/>
                <a:cs typeface="Times New Roman" panose="02020603050405020304" pitchFamily="18" charset="0"/>
              </a:rPr>
              <a:t>starburst plots</a:t>
            </a:r>
            <a:r>
              <a:rPr lang="en-US" dirty="0">
                <a:latin typeface="Times New Roman" panose="02020603050405020304" pitchFamily="18" charset="0"/>
                <a:cs typeface="Times New Roman" panose="02020603050405020304" pitchFamily="18" charset="0"/>
              </a:rPr>
              <a:t>) and supports </a:t>
            </a:r>
            <a:r>
              <a:rPr lang="en-US" b="1" dirty="0">
                <a:latin typeface="Times New Roman" panose="02020603050405020304" pitchFamily="18" charset="0"/>
                <a:cs typeface="Times New Roman" panose="02020603050405020304" pitchFamily="18" charset="0"/>
              </a:rPr>
              <a:t>functional copy number identification</a:t>
            </a:r>
            <a:r>
              <a:rPr lang="en-US" dirty="0">
                <a:latin typeface="Times New Roman" panose="02020603050405020304" pitchFamily="18" charset="0"/>
                <a:cs typeface="Times New Roman" panose="02020603050405020304" pitchFamily="18" charset="0"/>
              </a:rPr>
              <a:t>.</a:t>
            </a:r>
          </a:p>
          <a:p>
            <a:r>
              <a:rPr lang="en-US" b="1" dirty="0">
                <a:latin typeface="Times New Roman" panose="02020603050405020304" pitchFamily="18" charset="0"/>
                <a:cs typeface="Times New Roman" panose="02020603050405020304" pitchFamily="18" charset="0"/>
              </a:rPr>
              <a:t>Bioconductor Interoperability via SummarizedExperiment</a:t>
            </a:r>
            <a:r>
              <a:rPr lang="en-US" dirty="0">
                <a:latin typeface="Times New Roman" panose="02020603050405020304" pitchFamily="18" charset="0"/>
                <a:cs typeface="Times New Roman" panose="02020603050405020304" pitchFamily="18" charset="0"/>
              </a:rPr>
              <a:t>: TCGAbiolinks prepares downloaded Level 3 TCGA data as </a:t>
            </a:r>
            <a:r>
              <a:rPr lang="en-US" b="1" dirty="0">
                <a:latin typeface="Times New Roman" panose="02020603050405020304" pitchFamily="18" charset="0"/>
                <a:cs typeface="Times New Roman" panose="02020603050405020304" pitchFamily="18" charset="0"/>
              </a:rPr>
              <a:t>SummarizedExperiment objects</a:t>
            </a:r>
            <a:r>
              <a:rPr lang="en-US" dirty="0">
                <a:latin typeface="Times New Roman" panose="02020603050405020304" pitchFamily="18" charset="0"/>
                <a:cs typeface="Times New Roman" panose="02020603050405020304" pitchFamily="18" charset="0"/>
              </a:rPr>
              <a:t>. This standardized matrix-like class ensures immediate, seamless compatibility with a broad ecosystem of R/Bioconductor analytical packages, including </a:t>
            </a:r>
            <a:r>
              <a:rPr lang="en-US" dirty="0" err="1">
                <a:latin typeface="Times New Roman" panose="02020603050405020304" pitchFamily="18" charset="0"/>
                <a:cs typeface="Times New Roman" panose="02020603050405020304" pitchFamily="18" charset="0"/>
              </a:rPr>
              <a:t>GRanges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IRanges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limma</a:t>
            </a:r>
            <a:r>
              <a:rPr lang="en-US" dirty="0">
                <a:latin typeface="Times New Roman" panose="02020603050405020304" pitchFamily="18" charset="0"/>
                <a:cs typeface="Times New Roman" panose="02020603050405020304" pitchFamily="18" charset="0"/>
              </a:rPr>
              <a:t>, and edgeR.</a:t>
            </a:r>
          </a:p>
          <a:p>
            <a:pPr lvl="0"/>
            <a:r>
              <a:rPr lang="en-US" b="1" dirty="0">
                <a:latin typeface="Times New Roman" panose="02020603050405020304" pitchFamily="18" charset="0"/>
                <a:cs typeface="Times New Roman" panose="02020603050405020304" pitchFamily="18" charset="0"/>
              </a:rPr>
              <a:t>Unified End-to-End Pipeline</a:t>
            </a:r>
            <a:r>
              <a:rPr lang="en-US" dirty="0">
                <a:latin typeface="Times New Roman" panose="02020603050405020304" pitchFamily="18" charset="0"/>
                <a:cs typeface="Times New Roman" panose="02020603050405020304" pitchFamily="18" charset="0"/>
              </a:rPr>
              <a:t>: The package integrates a complete workflow under three functional levels, eliminating the need to chain multiple standalone software tools: </a:t>
            </a:r>
          </a:p>
          <a:p>
            <a:pPr marL="1028700" lvl="3" indent="-342900">
              <a:buFont typeface="+mj-lt"/>
              <a:buAutoNum type="arabicPeriod"/>
            </a:pPr>
            <a:r>
              <a:rPr lang="en-US" b="1" dirty="0">
                <a:latin typeface="Times New Roman" panose="02020603050405020304" pitchFamily="18" charset="0"/>
                <a:cs typeface="Times New Roman" panose="02020603050405020304" pitchFamily="18" charset="0"/>
              </a:rPr>
              <a:t>Data</a:t>
            </a:r>
            <a:r>
              <a:rPr lang="en-US" dirty="0">
                <a:latin typeface="Times New Roman" panose="02020603050405020304" pitchFamily="18" charset="0"/>
                <a:cs typeface="Times New Roman" panose="02020603050405020304" pitchFamily="18" charset="0"/>
              </a:rPr>
              <a:t>: Querying (</a:t>
            </a:r>
            <a:r>
              <a:rPr lang="en-US" dirty="0" err="1">
                <a:latin typeface="Times New Roman" panose="02020603050405020304" pitchFamily="18" charset="0"/>
                <a:cs typeface="Times New Roman" panose="02020603050405020304" pitchFamily="18" charset="0"/>
              </a:rPr>
              <a:t>TCGAquery</a:t>
            </a:r>
            <a:r>
              <a:rPr lang="en-US" dirty="0">
                <a:latin typeface="Times New Roman" panose="02020603050405020304" pitchFamily="18" charset="0"/>
                <a:cs typeface="Times New Roman" panose="02020603050405020304" pitchFamily="18" charset="0"/>
              </a:rPr>
              <a:t>), downloading (</a:t>
            </a:r>
            <a:r>
              <a:rPr lang="en-US" dirty="0" err="1">
                <a:latin typeface="Times New Roman" panose="02020603050405020304" pitchFamily="18" charset="0"/>
                <a:cs typeface="Times New Roman" panose="02020603050405020304" pitchFamily="18" charset="0"/>
              </a:rPr>
              <a:t>TCGAdownload</a:t>
            </a:r>
            <a:r>
              <a:rPr lang="en-US" dirty="0">
                <a:latin typeface="Times New Roman" panose="02020603050405020304" pitchFamily="18" charset="0"/>
                <a:cs typeface="Times New Roman" panose="02020603050405020304" pitchFamily="18" charset="0"/>
              </a:rPr>
              <a:t>), and formatting (</a:t>
            </a:r>
            <a:r>
              <a:rPr lang="en-US" dirty="0" err="1">
                <a:latin typeface="Times New Roman" panose="02020603050405020304" pitchFamily="18" charset="0"/>
                <a:cs typeface="Times New Roman" panose="02020603050405020304" pitchFamily="18" charset="0"/>
              </a:rPr>
              <a:t>TCGAprepare</a:t>
            </a:r>
            <a:r>
              <a:rPr lang="en-US" dirty="0">
                <a:latin typeface="Times New Roman" panose="02020603050405020304" pitchFamily="18" charset="0"/>
                <a:cs typeface="Times New Roman" panose="02020603050405020304" pitchFamily="18" charset="0"/>
              </a:rPr>
              <a:t>) across all TCGA platforms.</a:t>
            </a:r>
          </a:p>
          <a:p>
            <a:pPr marL="1028700" lvl="3" indent="-342900">
              <a:buFont typeface="+mj-lt"/>
              <a:buAutoNum type="arabicPeriod"/>
            </a:pPr>
            <a:r>
              <a:rPr lang="en-US" b="1" dirty="0">
                <a:latin typeface="Times New Roman" panose="02020603050405020304" pitchFamily="18" charset="0"/>
                <a:cs typeface="Times New Roman" panose="02020603050405020304" pitchFamily="18" charset="0"/>
              </a:rPr>
              <a:t>Analysis</a:t>
            </a:r>
            <a:r>
              <a:rPr lang="en-US" dirty="0">
                <a:latin typeface="Times New Roman" panose="02020603050405020304" pitchFamily="18" charset="0"/>
                <a:cs typeface="Times New Roman" panose="02020603050405020304" pitchFamily="18" charset="0"/>
              </a:rPr>
              <a:t>: Standard and advanced biological analyses such as preprocessing, transcript normalization, and differential expression.</a:t>
            </a:r>
          </a:p>
          <a:p>
            <a:pPr marL="1028700" lvl="3" indent="-342900">
              <a:buFont typeface="+mj-lt"/>
              <a:buAutoNum type="arabicPeriod"/>
            </a:pPr>
            <a:r>
              <a:rPr lang="en-US" b="1" dirty="0">
                <a:latin typeface="Times New Roman" panose="02020603050405020304" pitchFamily="18" charset="0"/>
                <a:cs typeface="Times New Roman" panose="02020603050405020304" pitchFamily="18" charset="0"/>
              </a:rPr>
              <a:t>Visualization</a:t>
            </a:r>
            <a:r>
              <a:rPr lang="en-US" dirty="0">
                <a:latin typeface="Times New Roman" panose="02020603050405020304" pitchFamily="18" charset="0"/>
                <a:cs typeface="Times New Roman" panose="02020603050405020304" pitchFamily="18" charset="0"/>
              </a:rPr>
              <a:t>: Direct generation of survival curves, volcano plots, PCA plots, heatmaps, and starburst plots.</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p>
        </p:txBody>
      </p:sp>
      <p:sp>
        <p:nvSpPr>
          <p:cNvPr id="4" name="Date Placeholder 3">
            <a:extLst>
              <a:ext uri="{FF2B5EF4-FFF2-40B4-BE49-F238E27FC236}">
                <a16:creationId xmlns:a16="http://schemas.microsoft.com/office/drawing/2014/main" id="{AEFF91CB-59B5-29D3-F930-0955B35E75E9}"/>
              </a:ext>
            </a:extLst>
          </p:cNvPr>
          <p:cNvSpPr>
            <a:spLocks noGrp="1"/>
          </p:cNvSpPr>
          <p:nvPr>
            <p:ph type="dt" sz="half" idx="10"/>
          </p:nvPr>
        </p:nvSpPr>
        <p:spPr/>
        <p:txBody>
          <a:bodyPr/>
          <a:lstStyle/>
          <a:p>
            <a:r>
              <a:rPr lang="en-US"/>
              <a:t>9/4/2026</a:t>
            </a:r>
          </a:p>
        </p:txBody>
      </p:sp>
      <p:sp>
        <p:nvSpPr>
          <p:cNvPr id="5" name="Slide Number Placeholder 4">
            <a:extLst>
              <a:ext uri="{FF2B5EF4-FFF2-40B4-BE49-F238E27FC236}">
                <a16:creationId xmlns:a16="http://schemas.microsoft.com/office/drawing/2014/main" id="{4A06CA44-6A09-9737-CBCD-27418A6A4008}"/>
              </a:ext>
            </a:extLst>
          </p:cNvPr>
          <p:cNvSpPr>
            <a:spLocks noGrp="1"/>
          </p:cNvSpPr>
          <p:nvPr>
            <p:ph type="sldNum" sz="quarter" idx="12"/>
          </p:nvPr>
        </p:nvSpPr>
        <p:spPr/>
        <p:txBody>
          <a:bodyPr/>
          <a:lstStyle/>
          <a:p>
            <a:fld id="{2A70D941-57F8-4881-9B87-49647FCDA0D6}" type="slidenum">
              <a:rPr lang="en-US" smtClean="0"/>
              <a:t>4</a:t>
            </a:fld>
            <a:endParaRPr lang="en-US"/>
          </a:p>
        </p:txBody>
      </p:sp>
      <p:sp>
        <p:nvSpPr>
          <p:cNvPr id="6" name="TextBox 5">
            <a:extLst>
              <a:ext uri="{FF2B5EF4-FFF2-40B4-BE49-F238E27FC236}">
                <a16:creationId xmlns:a16="http://schemas.microsoft.com/office/drawing/2014/main" id="{5398BEDD-596B-99D4-8EF0-7AD3063F8E4D}"/>
              </a:ext>
            </a:extLst>
          </p:cNvPr>
          <p:cNvSpPr txBox="1"/>
          <p:nvPr/>
        </p:nvSpPr>
        <p:spPr>
          <a:xfrm>
            <a:off x="1002890" y="1623209"/>
            <a:ext cx="9941890" cy="64633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TCGAbiolinks is distinguished from other TCGA data retrieval and analysis tools by several unique capabilities:</a:t>
            </a:r>
          </a:p>
        </p:txBody>
      </p:sp>
    </p:spTree>
    <p:extLst>
      <p:ext uri="{BB962C8B-B14F-4D97-AF65-F5344CB8AC3E}">
        <p14:creationId xmlns:p14="http://schemas.microsoft.com/office/powerpoint/2010/main" val="30908834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140CD-C341-965B-54C2-5477A7E295A0}"/>
              </a:ext>
            </a:extLst>
          </p:cNvPr>
          <p:cNvSpPr>
            <a:spLocks noGrp="1"/>
          </p:cNvSpPr>
          <p:nvPr>
            <p:ph type="title"/>
          </p:nvPr>
        </p:nvSpPr>
        <p:spPr/>
        <p:txBody>
          <a:bodyPr/>
          <a:lstStyle/>
          <a:p>
            <a:r>
              <a:rPr lang="en-US" dirty="0"/>
              <a:t>Now let’s see how this package will help us!</a:t>
            </a:r>
          </a:p>
        </p:txBody>
      </p:sp>
      <p:sp>
        <p:nvSpPr>
          <p:cNvPr id="3" name="Content Placeholder 2">
            <a:extLst>
              <a:ext uri="{FF2B5EF4-FFF2-40B4-BE49-F238E27FC236}">
                <a16:creationId xmlns:a16="http://schemas.microsoft.com/office/drawing/2014/main" id="{C9932E24-CC85-C5A7-124C-8A17566B66D5}"/>
              </a:ext>
            </a:extLst>
          </p:cNvPr>
          <p:cNvSpPr>
            <a:spLocks noGrp="1"/>
          </p:cNvSpPr>
          <p:nvPr>
            <p:ph idx="1"/>
          </p:nvPr>
        </p:nvSpPr>
        <p:spPr>
          <a:xfrm>
            <a:off x="1033907" y="3111716"/>
            <a:ext cx="7967180" cy="2894626"/>
          </a:xfrm>
        </p:spPr>
        <p:txBody>
          <a:bodyPr>
            <a:normAutofit/>
          </a:bodyPr>
          <a:lstStyle/>
          <a:p>
            <a:pPr marL="342900" indent="-342900">
              <a:buFont typeface="+mj-lt"/>
              <a:buAutoNum type="arabicPeriod"/>
            </a:pPr>
            <a:r>
              <a:rPr lang="en-US" b="1" dirty="0">
                <a:solidFill>
                  <a:schemeClr val="bg1">
                    <a:lumMod val="10000"/>
                  </a:schemeClr>
                </a:solidFill>
                <a:latin typeface="Times New Roman" panose="02020603050405020304" pitchFamily="18" charset="0"/>
                <a:cs typeface="Times New Roman" panose="02020603050405020304" pitchFamily="18" charset="0"/>
              </a:rPr>
              <a:t>Install and load required packages.</a:t>
            </a:r>
          </a:p>
          <a:p>
            <a:pPr marL="342900" indent="-342900">
              <a:buFont typeface="+mj-lt"/>
              <a:buAutoNum type="arabicPeriod"/>
            </a:pPr>
            <a:r>
              <a:rPr lang="en-US" b="1" dirty="0">
                <a:solidFill>
                  <a:schemeClr val="bg1">
                    <a:lumMod val="10000"/>
                  </a:schemeClr>
                </a:solidFill>
                <a:latin typeface="Times New Roman" panose="02020603050405020304" pitchFamily="18" charset="0"/>
                <a:cs typeface="Times New Roman" panose="02020603050405020304" pitchFamily="18" charset="0"/>
              </a:rPr>
              <a:t>Query the Genomic Data Commons (GDC).</a:t>
            </a:r>
          </a:p>
          <a:p>
            <a:pPr marL="342900" indent="-342900">
              <a:buFont typeface="+mj-lt"/>
              <a:buAutoNum type="arabicPeriod"/>
            </a:pPr>
            <a:r>
              <a:rPr lang="en-US" b="1" dirty="0">
                <a:solidFill>
                  <a:schemeClr val="bg1">
                    <a:lumMod val="10000"/>
                  </a:schemeClr>
                </a:solidFill>
                <a:latin typeface="Times New Roman" panose="02020603050405020304" pitchFamily="18" charset="0"/>
                <a:cs typeface="Times New Roman" panose="02020603050405020304" pitchFamily="18" charset="0"/>
              </a:rPr>
              <a:t>Download and prepare the data.</a:t>
            </a:r>
          </a:p>
          <a:p>
            <a:pPr marL="342900" indent="-342900">
              <a:buFont typeface="+mj-lt"/>
              <a:buAutoNum type="arabicPeriod"/>
            </a:pPr>
            <a:r>
              <a:rPr lang="en-US" b="1" dirty="0">
                <a:solidFill>
                  <a:schemeClr val="bg1">
                    <a:lumMod val="10000"/>
                  </a:schemeClr>
                </a:solidFill>
                <a:latin typeface="Times New Roman" panose="02020603050405020304" pitchFamily="18" charset="0"/>
                <a:cs typeface="Times New Roman" panose="02020603050405020304" pitchFamily="18" charset="0"/>
              </a:rPr>
              <a:t>Pre-processing &amp; filtering.</a:t>
            </a:r>
          </a:p>
          <a:p>
            <a:pPr marL="342900" indent="-342900">
              <a:buFont typeface="+mj-lt"/>
              <a:buAutoNum type="arabicPeriod"/>
            </a:pPr>
            <a:r>
              <a:rPr lang="en-US" b="1" dirty="0">
                <a:solidFill>
                  <a:schemeClr val="bg1">
                    <a:lumMod val="10000"/>
                  </a:schemeClr>
                </a:solidFill>
                <a:latin typeface="Times New Roman" panose="02020603050405020304" pitchFamily="18" charset="0"/>
                <a:cs typeface="Times New Roman" panose="02020603050405020304" pitchFamily="18" charset="0"/>
              </a:rPr>
              <a:t>Perform Differential expression analysis (DEA) and visualization using a volcano plot.</a:t>
            </a:r>
          </a:p>
          <a:p>
            <a:pPr marL="342900" indent="-342900">
              <a:buFont typeface="+mj-lt"/>
              <a:buAutoNum type="arabicPeriod"/>
            </a:pPr>
            <a:r>
              <a:rPr lang="en-US" b="1" dirty="0">
                <a:solidFill>
                  <a:schemeClr val="bg1">
                    <a:lumMod val="10000"/>
                  </a:schemeClr>
                </a:solidFill>
                <a:latin typeface="Times New Roman" panose="02020603050405020304" pitchFamily="18" charset="0"/>
                <a:cs typeface="Times New Roman" panose="02020603050405020304" pitchFamily="18" charset="0"/>
              </a:rPr>
              <a:t>Prepare gene lists (up- and down-regulated).</a:t>
            </a:r>
          </a:p>
          <a:p>
            <a:pPr marL="342900" indent="-342900">
              <a:buFont typeface="+mj-lt"/>
              <a:buAutoNum type="arabicPeriod"/>
            </a:pPr>
            <a:r>
              <a:rPr lang="en-US" b="1" dirty="0">
                <a:solidFill>
                  <a:schemeClr val="bg1">
                    <a:lumMod val="10000"/>
                  </a:schemeClr>
                </a:solidFill>
                <a:latin typeface="Times New Roman" panose="02020603050405020304" pitchFamily="18" charset="0"/>
                <a:cs typeface="Times New Roman" panose="02020603050405020304" pitchFamily="18" charset="0"/>
              </a:rPr>
              <a:t>Perform Enrichment analysis (EA) and visualization using a bar plot.</a:t>
            </a:r>
          </a:p>
          <a:p>
            <a:endParaRPr lang="en-US" dirty="0"/>
          </a:p>
        </p:txBody>
      </p:sp>
      <p:sp>
        <p:nvSpPr>
          <p:cNvPr id="4" name="Date Placeholder 3">
            <a:extLst>
              <a:ext uri="{FF2B5EF4-FFF2-40B4-BE49-F238E27FC236}">
                <a16:creationId xmlns:a16="http://schemas.microsoft.com/office/drawing/2014/main" id="{51F37365-D22E-51DF-07D0-94E893F63E97}"/>
              </a:ext>
            </a:extLst>
          </p:cNvPr>
          <p:cNvSpPr>
            <a:spLocks noGrp="1"/>
          </p:cNvSpPr>
          <p:nvPr>
            <p:ph type="dt" sz="half" idx="10"/>
          </p:nvPr>
        </p:nvSpPr>
        <p:spPr/>
        <p:txBody>
          <a:bodyPr/>
          <a:lstStyle/>
          <a:p>
            <a:r>
              <a:rPr lang="en-US"/>
              <a:t>9/4/2026</a:t>
            </a:r>
          </a:p>
        </p:txBody>
      </p:sp>
      <p:sp>
        <p:nvSpPr>
          <p:cNvPr id="5" name="Slide Number Placeholder 4">
            <a:extLst>
              <a:ext uri="{FF2B5EF4-FFF2-40B4-BE49-F238E27FC236}">
                <a16:creationId xmlns:a16="http://schemas.microsoft.com/office/drawing/2014/main" id="{0605529A-0AF3-7930-5F60-59BBE9D73064}"/>
              </a:ext>
            </a:extLst>
          </p:cNvPr>
          <p:cNvSpPr>
            <a:spLocks noGrp="1"/>
          </p:cNvSpPr>
          <p:nvPr>
            <p:ph type="sldNum" sz="quarter" idx="12"/>
          </p:nvPr>
        </p:nvSpPr>
        <p:spPr/>
        <p:txBody>
          <a:bodyPr/>
          <a:lstStyle/>
          <a:p>
            <a:fld id="{2A70D941-57F8-4881-9B87-49647FCDA0D6}" type="slidenum">
              <a:rPr lang="en-US" smtClean="0"/>
              <a:t>5</a:t>
            </a:fld>
            <a:endParaRPr lang="en-US"/>
          </a:p>
        </p:txBody>
      </p:sp>
      <p:sp>
        <p:nvSpPr>
          <p:cNvPr id="6" name="TextBox 5">
            <a:extLst>
              <a:ext uri="{FF2B5EF4-FFF2-40B4-BE49-F238E27FC236}">
                <a16:creationId xmlns:a16="http://schemas.microsoft.com/office/drawing/2014/main" id="{0CF56565-3E4A-BBC7-5D90-82774E043371}"/>
              </a:ext>
            </a:extLst>
          </p:cNvPr>
          <p:cNvSpPr txBox="1"/>
          <p:nvPr/>
        </p:nvSpPr>
        <p:spPr>
          <a:xfrm>
            <a:off x="612646" y="1978324"/>
            <a:ext cx="8809703"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We will use this package to handle LUAD data.</a:t>
            </a:r>
            <a:endParaRPr lang="en-US" sz="2000" b="1" dirty="0">
              <a:effectLs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E388BF78-6892-3558-5419-AED4DCA26500}"/>
              </a:ext>
            </a:extLst>
          </p:cNvPr>
          <p:cNvSpPr txBox="1"/>
          <p:nvPr/>
        </p:nvSpPr>
        <p:spPr>
          <a:xfrm>
            <a:off x="612647" y="2560409"/>
            <a:ext cx="493579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Main Steps:</a:t>
            </a:r>
          </a:p>
        </p:txBody>
      </p:sp>
    </p:spTree>
    <p:extLst>
      <p:ext uri="{BB962C8B-B14F-4D97-AF65-F5344CB8AC3E}">
        <p14:creationId xmlns:p14="http://schemas.microsoft.com/office/powerpoint/2010/main" val="39035408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9BF5C-2059-10AF-CCA6-E4BB0FC1522D}"/>
              </a:ext>
            </a:extLst>
          </p:cNvPr>
          <p:cNvSpPr>
            <a:spLocks noGrp="1"/>
          </p:cNvSpPr>
          <p:nvPr>
            <p:ph type="title"/>
          </p:nvPr>
        </p:nvSpPr>
        <p:spPr>
          <a:xfrm>
            <a:off x="422724" y="485075"/>
            <a:ext cx="10621726" cy="1325880"/>
          </a:xfrm>
        </p:spPr>
        <p:txBody>
          <a:bodyPr anchor="b">
            <a:normAutofit/>
          </a:bodyPr>
          <a:lstStyle/>
          <a:p>
            <a:r>
              <a:rPr lang="en-US" dirty="0"/>
              <a:t>Step No. 1: Install and load required packages</a:t>
            </a:r>
          </a:p>
        </p:txBody>
      </p:sp>
      <p:sp>
        <p:nvSpPr>
          <p:cNvPr id="3" name="Content Placeholder 2">
            <a:extLst>
              <a:ext uri="{FF2B5EF4-FFF2-40B4-BE49-F238E27FC236}">
                <a16:creationId xmlns:a16="http://schemas.microsoft.com/office/drawing/2014/main" id="{DB999A13-5AF0-DD63-1B8F-6858F1DC591F}"/>
              </a:ext>
            </a:extLst>
          </p:cNvPr>
          <p:cNvSpPr>
            <a:spLocks noGrp="1"/>
          </p:cNvSpPr>
          <p:nvPr>
            <p:ph sz="quarter" idx="14"/>
          </p:nvPr>
        </p:nvSpPr>
        <p:spPr>
          <a:xfrm>
            <a:off x="422724" y="2023423"/>
            <a:ext cx="4874038" cy="3895596"/>
          </a:xfrm>
        </p:spPr>
        <p:txBody>
          <a:bodyPr>
            <a:noAutofit/>
          </a:bodyPr>
          <a:lstStyle/>
          <a:p>
            <a:pPr>
              <a:lnSpc>
                <a:spcPct val="110000"/>
              </a:lnSpc>
            </a:pPr>
            <a:r>
              <a:rPr lang="en-US" sz="1200" dirty="0">
                <a:latin typeface="Times New Roman" panose="02020603050405020304" pitchFamily="18" charset="0"/>
                <a:cs typeface="Times New Roman" panose="02020603050405020304" pitchFamily="18" charset="0"/>
              </a:rPr>
              <a:t>R checks if the BiocManager package is installed. If not, it installs it from CRAN (the standard R repository). BiocManager is the tool used to install bioinformatics packages from Bioconductor, which hosts TCGAbiolinks and edgeR.</a:t>
            </a:r>
          </a:p>
          <a:p>
            <a:pPr>
              <a:lnSpc>
                <a:spcPct val="110000"/>
              </a:lnSpc>
            </a:pPr>
            <a:r>
              <a:rPr lang="en-US" sz="1200" dirty="0">
                <a:latin typeface="Times New Roman" panose="02020603050405020304" pitchFamily="18" charset="0"/>
                <a:cs typeface="Times New Roman" panose="02020603050405020304" pitchFamily="18" charset="0"/>
              </a:rPr>
              <a:t>Installing three core Bioconductor packages. force = TRUE ensures they install or reinstall even if R thinks they are already up to date.</a:t>
            </a:r>
          </a:p>
          <a:p>
            <a:pPr lvl="1">
              <a:lnSpc>
                <a:spcPct val="110000"/>
              </a:lnSpc>
              <a:buFont typeface="+mj-lt"/>
              <a:buAutoNum type="arabicPeriod"/>
            </a:pPr>
            <a:r>
              <a:rPr lang="en-US" sz="1200" b="1" dirty="0">
                <a:latin typeface="Times New Roman" panose="02020603050405020304" pitchFamily="18" charset="0"/>
                <a:cs typeface="Times New Roman" panose="02020603050405020304" pitchFamily="18" charset="0"/>
              </a:rPr>
              <a:t>TCGAbiolinks:</a:t>
            </a:r>
            <a:r>
              <a:rPr lang="en-US" sz="1200" dirty="0">
                <a:latin typeface="Times New Roman" panose="02020603050405020304" pitchFamily="18" charset="0"/>
                <a:cs typeface="Times New Roman" panose="02020603050405020304" pitchFamily="18" charset="0"/>
              </a:rPr>
              <a:t> The main package to query, download, and analyze cancer data from the Genomic Data Commons (GDC).</a:t>
            </a:r>
          </a:p>
          <a:p>
            <a:pPr lvl="1">
              <a:lnSpc>
                <a:spcPct val="110000"/>
              </a:lnSpc>
              <a:buFont typeface="+mj-lt"/>
              <a:buAutoNum type="arabicPeriod"/>
            </a:pPr>
            <a:r>
              <a:rPr lang="en-US" sz="1200" b="1" dirty="0">
                <a:latin typeface="Times New Roman" panose="02020603050405020304" pitchFamily="18" charset="0"/>
                <a:cs typeface="Times New Roman" panose="02020603050405020304" pitchFamily="18" charset="0"/>
              </a:rPr>
              <a:t>SummarizedExperiment:</a:t>
            </a:r>
            <a:r>
              <a:rPr lang="en-US" sz="1200" dirty="0">
                <a:latin typeface="Times New Roman" panose="02020603050405020304" pitchFamily="18" charset="0"/>
                <a:cs typeface="Times New Roman" panose="02020603050405020304" pitchFamily="18" charset="0"/>
              </a:rPr>
              <a:t> A specific data structure package. It handles complex genomic data where the rows are genomic features (like genes), and columns are samples (like patients).</a:t>
            </a:r>
          </a:p>
          <a:p>
            <a:pPr lvl="1">
              <a:lnSpc>
                <a:spcPct val="110000"/>
              </a:lnSpc>
              <a:buFont typeface="+mj-lt"/>
              <a:buAutoNum type="arabicPeriod"/>
            </a:pPr>
            <a:r>
              <a:rPr lang="en-US" sz="1200" b="1" dirty="0">
                <a:latin typeface="Times New Roman" panose="02020603050405020304" pitchFamily="18" charset="0"/>
                <a:cs typeface="Times New Roman" panose="02020603050405020304" pitchFamily="18" charset="0"/>
              </a:rPr>
              <a:t>edgeR:</a:t>
            </a:r>
            <a:r>
              <a:rPr lang="en-US" sz="1200" dirty="0">
                <a:latin typeface="Times New Roman" panose="02020603050405020304" pitchFamily="18" charset="0"/>
                <a:cs typeface="Times New Roman" panose="02020603050405020304" pitchFamily="18" charset="0"/>
              </a:rPr>
              <a:t> The statistical engine we will use later to figure out which genes are significantly different between tumor and normal samples.</a:t>
            </a:r>
          </a:p>
          <a:p>
            <a:pPr>
              <a:lnSpc>
                <a:spcPct val="110000"/>
              </a:lnSpc>
            </a:pPr>
            <a:r>
              <a:rPr lang="en-US" sz="1200" dirty="0">
                <a:latin typeface="Times New Roman" panose="02020603050405020304" pitchFamily="18" charset="0"/>
                <a:cs typeface="Times New Roman" panose="02020603050405020304" pitchFamily="18" charset="0"/>
              </a:rPr>
              <a:t>Then we load the installed packages into the current R session so we can use their functions.</a:t>
            </a:r>
            <a:endParaRPr lang="en-US" sz="1200" dirty="0">
              <a:effectLst/>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D0E48F9-9BB5-03E4-6FFF-1CE31F84559E}"/>
              </a:ext>
            </a:extLst>
          </p:cNvPr>
          <p:cNvSpPr>
            <a:spLocks noGrp="1"/>
          </p:cNvSpPr>
          <p:nvPr>
            <p:ph type="dt" sz="half" idx="10"/>
          </p:nvPr>
        </p:nvSpPr>
        <p:spPr/>
        <p:txBody>
          <a:bodyPr anchor="ctr">
            <a:normAutofit/>
          </a:bodyPr>
          <a:lstStyle/>
          <a:p>
            <a:pPr>
              <a:spcAft>
                <a:spcPts val="600"/>
              </a:spcAft>
            </a:pPr>
            <a:r>
              <a:rPr lang="en-US"/>
              <a:t>9/4/2026</a:t>
            </a:r>
          </a:p>
        </p:txBody>
      </p:sp>
      <p:sp>
        <p:nvSpPr>
          <p:cNvPr id="5" name="Slide Number Placeholder 4">
            <a:extLst>
              <a:ext uri="{FF2B5EF4-FFF2-40B4-BE49-F238E27FC236}">
                <a16:creationId xmlns:a16="http://schemas.microsoft.com/office/drawing/2014/main" id="{79EFE837-11B4-CAE5-FFD5-24850E1A2B79}"/>
              </a:ext>
            </a:extLst>
          </p:cNvPr>
          <p:cNvSpPr>
            <a:spLocks noGrp="1"/>
          </p:cNvSpPr>
          <p:nvPr>
            <p:ph type="sldNum" sz="quarter" idx="12"/>
          </p:nvPr>
        </p:nvSpPr>
        <p:spPr/>
        <p:txBody>
          <a:bodyPr anchor="ctr">
            <a:normAutofit/>
          </a:bodyPr>
          <a:lstStyle/>
          <a:p>
            <a:pPr>
              <a:spcAft>
                <a:spcPts val="600"/>
              </a:spcAft>
            </a:pPr>
            <a:fld id="{2A70D941-57F8-4881-9B87-49647FCDA0D6}" type="slidenum">
              <a:rPr lang="en-US" smtClean="0"/>
              <a:pPr>
                <a:spcAft>
                  <a:spcPts val="600"/>
                </a:spcAft>
              </a:pPr>
              <a:t>6</a:t>
            </a:fld>
            <a:endParaRPr lang="en-US"/>
          </a:p>
        </p:txBody>
      </p:sp>
      <p:pic>
        <p:nvPicPr>
          <p:cNvPr id="7" name="Picture 6">
            <a:extLst>
              <a:ext uri="{FF2B5EF4-FFF2-40B4-BE49-F238E27FC236}">
                <a16:creationId xmlns:a16="http://schemas.microsoft.com/office/drawing/2014/main" id="{E5B6795D-7861-8016-0DE8-AC137E0E9A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58928" y="2253047"/>
            <a:ext cx="6533072" cy="2351905"/>
          </a:xfrm>
          <a:prstGeom prst="rect">
            <a:avLst/>
          </a:prstGeom>
          <a:noFill/>
        </p:spPr>
      </p:pic>
    </p:spTree>
    <p:extLst>
      <p:ext uri="{BB962C8B-B14F-4D97-AF65-F5344CB8AC3E}">
        <p14:creationId xmlns:p14="http://schemas.microsoft.com/office/powerpoint/2010/main" val="5861798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D17FB-42BA-4EE6-C4F6-20BD0F75CAA3}"/>
              </a:ext>
            </a:extLst>
          </p:cNvPr>
          <p:cNvSpPr>
            <a:spLocks noGrp="1"/>
          </p:cNvSpPr>
          <p:nvPr>
            <p:ph type="title"/>
          </p:nvPr>
        </p:nvSpPr>
        <p:spPr>
          <a:xfrm>
            <a:off x="609600" y="773569"/>
            <a:ext cx="10969753" cy="932688"/>
          </a:xfrm>
        </p:spPr>
        <p:txBody>
          <a:bodyPr anchor="b">
            <a:normAutofit/>
          </a:bodyPr>
          <a:lstStyle/>
          <a:p>
            <a:r>
              <a:rPr lang="en-US" dirty="0"/>
              <a:t>Step No. 2: Query the Genomic Data Commons (GDC)</a:t>
            </a:r>
          </a:p>
        </p:txBody>
      </p:sp>
      <p:sp>
        <p:nvSpPr>
          <p:cNvPr id="3" name="Content Placeholder 2">
            <a:extLst>
              <a:ext uri="{FF2B5EF4-FFF2-40B4-BE49-F238E27FC236}">
                <a16:creationId xmlns:a16="http://schemas.microsoft.com/office/drawing/2014/main" id="{84FD54D2-0232-9507-441B-588DF5B0BF7F}"/>
              </a:ext>
            </a:extLst>
          </p:cNvPr>
          <p:cNvSpPr>
            <a:spLocks noGrp="1"/>
          </p:cNvSpPr>
          <p:nvPr>
            <p:ph sz="quarter" idx="14"/>
          </p:nvPr>
        </p:nvSpPr>
        <p:spPr/>
        <p:txBody>
          <a:bodyPr>
            <a:normAutofit/>
          </a:bodyPr>
          <a:lstStyle/>
          <a:p>
            <a:pPr marL="0" indent="0">
              <a:buNone/>
            </a:pPr>
            <a:r>
              <a:rPr lang="en-US" dirty="0">
                <a:latin typeface="Times New Roman" panose="02020603050405020304" pitchFamily="18" charset="0"/>
                <a:cs typeface="Times New Roman" panose="02020603050405020304" pitchFamily="18" charset="0"/>
              </a:rPr>
              <a:t>This is a search request to the GDC server. It does </a:t>
            </a:r>
            <a:r>
              <a:rPr lang="en-US" b="1" dirty="0">
                <a:latin typeface="Times New Roman" panose="02020603050405020304" pitchFamily="18" charset="0"/>
                <a:cs typeface="Times New Roman" panose="02020603050405020304" pitchFamily="18" charset="0"/>
              </a:rPr>
              <a:t>not</a:t>
            </a:r>
            <a:r>
              <a:rPr lang="en-US" dirty="0">
                <a:latin typeface="Times New Roman" panose="02020603050405020304" pitchFamily="18" charset="0"/>
                <a:cs typeface="Times New Roman" panose="02020603050405020304" pitchFamily="18" charset="0"/>
              </a:rPr>
              <a:t> download the data yet; it just creates a "manifest" of what to download.</a:t>
            </a:r>
          </a:p>
          <a:p>
            <a:pPr lvl="2"/>
            <a:r>
              <a:rPr lang="en-US" dirty="0">
                <a:latin typeface="Times New Roman" panose="02020603050405020304" pitchFamily="18" charset="0"/>
                <a:cs typeface="Times New Roman" panose="02020603050405020304" pitchFamily="18" charset="0"/>
              </a:rPr>
              <a:t>project = "TCGA-LUAD": Lung Adenocarcinoma.</a:t>
            </a:r>
          </a:p>
          <a:p>
            <a:pPr lvl="2"/>
            <a:r>
              <a:rPr lang="en-US" dirty="0">
                <a:latin typeface="Times New Roman" panose="02020603050405020304" pitchFamily="18" charset="0"/>
                <a:cs typeface="Times New Roman" panose="02020603050405020304" pitchFamily="18" charset="0"/>
              </a:rPr>
              <a:t>data.category and data.type: we want gene expression data.</a:t>
            </a:r>
          </a:p>
          <a:p>
            <a:pPr lvl="2"/>
            <a:r>
              <a:rPr lang="en-US" dirty="0">
                <a:latin typeface="Times New Roman" panose="02020603050405020304" pitchFamily="18" charset="0"/>
                <a:cs typeface="Times New Roman" panose="02020603050405020304" pitchFamily="18" charset="0"/>
              </a:rPr>
              <a:t>workflow.type = "STAR - Counts": specifically want RNA-seq reads that were aligned to the human genome using the STAR aligner, output as raw read counts.</a:t>
            </a:r>
          </a:p>
          <a:p>
            <a:pPr lvl="2"/>
            <a:r>
              <a:rPr lang="en-US" dirty="0">
                <a:latin typeface="Times New Roman" panose="02020603050405020304" pitchFamily="18" charset="0"/>
                <a:cs typeface="Times New Roman" panose="02020603050405020304" pitchFamily="18" charset="0"/>
              </a:rPr>
              <a:t>sample.type: requesting data for both the actual tumor and the adjacent healthy tissue (normal).</a:t>
            </a:r>
          </a:p>
        </p:txBody>
      </p:sp>
      <p:sp>
        <p:nvSpPr>
          <p:cNvPr id="4" name="Date Placeholder 3">
            <a:extLst>
              <a:ext uri="{FF2B5EF4-FFF2-40B4-BE49-F238E27FC236}">
                <a16:creationId xmlns:a16="http://schemas.microsoft.com/office/drawing/2014/main" id="{B2DCC984-CCE2-FC25-91CD-C44C1867AB87}"/>
              </a:ext>
            </a:extLst>
          </p:cNvPr>
          <p:cNvSpPr>
            <a:spLocks noGrp="1"/>
          </p:cNvSpPr>
          <p:nvPr>
            <p:ph type="dt" sz="half" idx="15"/>
          </p:nvPr>
        </p:nvSpPr>
        <p:spPr/>
        <p:txBody>
          <a:bodyPr anchor="ctr">
            <a:normAutofit/>
          </a:bodyPr>
          <a:lstStyle/>
          <a:p>
            <a:pPr>
              <a:spcAft>
                <a:spcPts val="600"/>
              </a:spcAft>
            </a:pPr>
            <a:r>
              <a:rPr lang="en-US"/>
              <a:t>9/4/2026</a:t>
            </a:r>
          </a:p>
        </p:txBody>
      </p:sp>
      <p:sp>
        <p:nvSpPr>
          <p:cNvPr id="5" name="Slide Number Placeholder 4">
            <a:extLst>
              <a:ext uri="{FF2B5EF4-FFF2-40B4-BE49-F238E27FC236}">
                <a16:creationId xmlns:a16="http://schemas.microsoft.com/office/drawing/2014/main" id="{E3FC9C21-735B-9D81-E622-83B3386C9DCD}"/>
              </a:ext>
            </a:extLst>
          </p:cNvPr>
          <p:cNvSpPr>
            <a:spLocks noGrp="1"/>
          </p:cNvSpPr>
          <p:nvPr>
            <p:ph type="sldNum" sz="quarter" idx="17"/>
          </p:nvPr>
        </p:nvSpPr>
        <p:spPr/>
        <p:txBody>
          <a:bodyPr anchor="ctr">
            <a:normAutofit/>
          </a:bodyPr>
          <a:lstStyle/>
          <a:p>
            <a:pPr>
              <a:spcAft>
                <a:spcPts val="600"/>
              </a:spcAft>
            </a:pPr>
            <a:fld id="{2A70D941-57F8-4881-9B87-49647FCDA0D6}" type="slidenum">
              <a:rPr lang="en-US" smtClean="0"/>
              <a:pPr>
                <a:spcAft>
                  <a:spcPts val="600"/>
                </a:spcAft>
              </a:pPr>
              <a:t>7</a:t>
            </a:fld>
            <a:endParaRPr lang="en-US"/>
          </a:p>
        </p:txBody>
      </p:sp>
      <p:pic>
        <p:nvPicPr>
          <p:cNvPr id="7" name="Picture 6">
            <a:extLst>
              <a:ext uri="{FF2B5EF4-FFF2-40B4-BE49-F238E27FC236}">
                <a16:creationId xmlns:a16="http://schemas.microsoft.com/office/drawing/2014/main" id="{1B8426D9-F663-A656-547E-FAEC3D0E3C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37221" y="3486794"/>
            <a:ext cx="5741992" cy="1076624"/>
          </a:xfrm>
          <a:prstGeom prst="rect">
            <a:avLst/>
          </a:prstGeom>
          <a:noFill/>
        </p:spPr>
      </p:pic>
    </p:spTree>
    <p:extLst>
      <p:ext uri="{BB962C8B-B14F-4D97-AF65-F5344CB8AC3E}">
        <p14:creationId xmlns:p14="http://schemas.microsoft.com/office/powerpoint/2010/main" val="1161454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14636-B29B-2146-BEE4-2590B8DAF531}"/>
              </a:ext>
            </a:extLst>
          </p:cNvPr>
          <p:cNvSpPr>
            <a:spLocks noGrp="1"/>
          </p:cNvSpPr>
          <p:nvPr>
            <p:ph type="title"/>
          </p:nvPr>
        </p:nvSpPr>
        <p:spPr>
          <a:xfrm>
            <a:off x="603905" y="609857"/>
            <a:ext cx="10981137" cy="1325563"/>
          </a:xfrm>
        </p:spPr>
        <p:txBody>
          <a:bodyPr>
            <a:normAutofit/>
          </a:bodyPr>
          <a:lstStyle/>
          <a:p>
            <a:r>
              <a:rPr lang="en-US" dirty="0"/>
              <a:t>Just a little modification of the query</a:t>
            </a:r>
            <a:endParaRPr lang="en-US" dirty="0">
              <a:effectLst/>
            </a:endParaRPr>
          </a:p>
        </p:txBody>
      </p:sp>
      <p:sp>
        <p:nvSpPr>
          <p:cNvPr id="3" name="Content Placeholder 2">
            <a:extLst>
              <a:ext uri="{FF2B5EF4-FFF2-40B4-BE49-F238E27FC236}">
                <a16:creationId xmlns:a16="http://schemas.microsoft.com/office/drawing/2014/main" id="{EEBB48B2-9570-C25D-04A5-36BA48961B48}"/>
              </a:ext>
            </a:extLst>
          </p:cNvPr>
          <p:cNvSpPr>
            <a:spLocks noGrp="1"/>
          </p:cNvSpPr>
          <p:nvPr>
            <p:ph idx="1"/>
          </p:nvPr>
        </p:nvSpPr>
        <p:spPr>
          <a:xfrm>
            <a:off x="612647" y="2294676"/>
            <a:ext cx="10963656" cy="926044"/>
          </a:xfrm>
        </p:spPr>
        <p:txBody>
          <a:bodyPr>
            <a:normAutofit/>
          </a:bodyPr>
          <a:lstStyle/>
          <a:p>
            <a:r>
              <a:rPr lang="en-US" dirty="0">
                <a:latin typeface="Times New Roman" panose="02020603050405020304" pitchFamily="18" charset="0"/>
                <a:cs typeface="Times New Roman" panose="02020603050405020304" pitchFamily="18" charset="0"/>
              </a:rPr>
              <a:t>The full TCGA-LUAD dataset is massive (hundreds of samples, gigabytes of data). This code takes the query and trims it down to just 10 Tumor samples and 10 Normal samples. It saves massive amounts of time and memory while we are testing the pipeline.</a:t>
            </a:r>
          </a:p>
        </p:txBody>
      </p:sp>
      <p:sp>
        <p:nvSpPr>
          <p:cNvPr id="4" name="Date Placeholder 3">
            <a:extLst>
              <a:ext uri="{FF2B5EF4-FFF2-40B4-BE49-F238E27FC236}">
                <a16:creationId xmlns:a16="http://schemas.microsoft.com/office/drawing/2014/main" id="{32A76AEB-F441-3FD2-3DDD-FD323F3C6BE9}"/>
              </a:ext>
            </a:extLst>
          </p:cNvPr>
          <p:cNvSpPr>
            <a:spLocks noGrp="1"/>
          </p:cNvSpPr>
          <p:nvPr>
            <p:ph type="dt" sz="half" idx="10"/>
          </p:nvPr>
        </p:nvSpPr>
        <p:spPr/>
        <p:txBody>
          <a:bodyPr/>
          <a:lstStyle/>
          <a:p>
            <a:r>
              <a:rPr lang="en-US"/>
              <a:t>9/4/2026</a:t>
            </a:r>
          </a:p>
        </p:txBody>
      </p:sp>
      <p:sp>
        <p:nvSpPr>
          <p:cNvPr id="5" name="Slide Number Placeholder 4">
            <a:extLst>
              <a:ext uri="{FF2B5EF4-FFF2-40B4-BE49-F238E27FC236}">
                <a16:creationId xmlns:a16="http://schemas.microsoft.com/office/drawing/2014/main" id="{6AB279AF-CF90-D573-E2AB-EF36A6CBE94C}"/>
              </a:ext>
            </a:extLst>
          </p:cNvPr>
          <p:cNvSpPr>
            <a:spLocks noGrp="1"/>
          </p:cNvSpPr>
          <p:nvPr>
            <p:ph type="sldNum" sz="quarter" idx="12"/>
          </p:nvPr>
        </p:nvSpPr>
        <p:spPr/>
        <p:txBody>
          <a:bodyPr/>
          <a:lstStyle/>
          <a:p>
            <a:fld id="{2A70D941-57F8-4881-9B87-49647FCDA0D6}" type="slidenum">
              <a:rPr lang="en-US" smtClean="0"/>
              <a:t>8</a:t>
            </a:fld>
            <a:endParaRPr lang="en-US"/>
          </a:p>
        </p:txBody>
      </p:sp>
      <p:pic>
        <p:nvPicPr>
          <p:cNvPr id="21" name="Picture 20">
            <a:extLst>
              <a:ext uri="{FF2B5EF4-FFF2-40B4-BE49-F238E27FC236}">
                <a16:creationId xmlns:a16="http://schemas.microsoft.com/office/drawing/2014/main" id="{5A3765C2-48EB-755E-237E-B8A19C9A0B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3230" y="3429000"/>
            <a:ext cx="7262489" cy="914479"/>
          </a:xfrm>
          <a:prstGeom prst="rect">
            <a:avLst/>
          </a:prstGeom>
        </p:spPr>
      </p:pic>
    </p:spTree>
    <p:extLst>
      <p:ext uri="{BB962C8B-B14F-4D97-AF65-F5344CB8AC3E}">
        <p14:creationId xmlns:p14="http://schemas.microsoft.com/office/powerpoint/2010/main" val="31604169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01C4C-3D72-1F11-C797-C621D8BD440A}"/>
              </a:ext>
            </a:extLst>
          </p:cNvPr>
          <p:cNvSpPr>
            <a:spLocks noGrp="1"/>
          </p:cNvSpPr>
          <p:nvPr>
            <p:ph type="title"/>
          </p:nvPr>
        </p:nvSpPr>
        <p:spPr/>
        <p:txBody>
          <a:bodyPr/>
          <a:lstStyle/>
          <a:p>
            <a:r>
              <a:rPr lang="en-US" dirty="0"/>
              <a:t>Step No. 3: Download and prepare the data</a:t>
            </a:r>
          </a:p>
        </p:txBody>
      </p:sp>
      <p:sp>
        <p:nvSpPr>
          <p:cNvPr id="3" name="Content Placeholder 2">
            <a:extLst>
              <a:ext uri="{FF2B5EF4-FFF2-40B4-BE49-F238E27FC236}">
                <a16:creationId xmlns:a16="http://schemas.microsoft.com/office/drawing/2014/main" id="{68EAB4D2-94E8-AF39-1613-660B0D9E9AA8}"/>
              </a:ext>
            </a:extLst>
          </p:cNvPr>
          <p:cNvSpPr>
            <a:spLocks noGrp="1"/>
          </p:cNvSpPr>
          <p:nvPr>
            <p:ph idx="1"/>
          </p:nvPr>
        </p:nvSpPr>
        <p:spPr>
          <a:xfrm>
            <a:off x="339490" y="1897991"/>
            <a:ext cx="11509970" cy="4300064"/>
          </a:xfrm>
        </p:spPr>
        <p:txBody>
          <a:bodyPr>
            <a:normAutofit/>
          </a:bodyPr>
          <a:lstStyle/>
          <a:p>
            <a:r>
              <a:rPr lang="en-US" dirty="0">
                <a:latin typeface="Times New Roman" panose="02020603050405020304" pitchFamily="18" charset="0"/>
                <a:cs typeface="Times New Roman" panose="02020603050405020304" pitchFamily="18" charset="0"/>
              </a:rPr>
              <a:t>GDCdownload reads your modified query and downloads the raw STAR count files from the GDC servers to your local hard drive.</a:t>
            </a:r>
          </a:p>
          <a:p>
            <a:r>
              <a:rPr lang="en-US" dirty="0" err="1">
                <a:latin typeface="Times New Roman" panose="02020603050405020304" pitchFamily="18" charset="0"/>
                <a:cs typeface="Times New Roman" panose="02020603050405020304" pitchFamily="18" charset="0"/>
              </a:rPr>
              <a:t>GDCprepare</a:t>
            </a:r>
            <a:r>
              <a:rPr lang="en-US" dirty="0">
                <a:latin typeface="Times New Roman" panose="02020603050405020304" pitchFamily="18" charset="0"/>
                <a:cs typeface="Times New Roman" panose="02020603050405020304" pitchFamily="18" charset="0"/>
              </a:rPr>
              <a:t> reads the downloaded files and merges them into a single SummarizedExperiment object named </a:t>
            </a:r>
            <a:r>
              <a:rPr lang="en-US" dirty="0" err="1">
                <a:latin typeface="Times New Roman" panose="02020603050405020304" pitchFamily="18" charset="0"/>
                <a:cs typeface="Times New Roman" panose="02020603050405020304" pitchFamily="18" charset="0"/>
              </a:rPr>
              <a:t>data_LUAD</a:t>
            </a:r>
            <a:r>
              <a:rPr lang="en-US" dirty="0">
                <a:latin typeface="Times New Roman" panose="02020603050405020304" pitchFamily="18" charset="0"/>
                <a:cs typeface="Times New Roman" panose="02020603050405020304" pitchFamily="18" charset="0"/>
              </a:rPr>
              <a:t>. This object contains the count data, patient clinical data, and gene annotations all in one place.</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assay() function extracts the numeric matrix of gene counts from the </a:t>
            </a:r>
            <a:r>
              <a:rPr lang="en-US" dirty="0" err="1">
                <a:latin typeface="Times New Roman" panose="02020603050405020304" pitchFamily="18" charset="0"/>
                <a:cs typeface="Times New Roman" panose="02020603050405020304" pitchFamily="18" charset="0"/>
              </a:rPr>
              <a:t>data_LUAD</a:t>
            </a:r>
            <a:r>
              <a:rPr lang="en-US" dirty="0">
                <a:latin typeface="Times New Roman" panose="02020603050405020304" pitchFamily="18" charset="0"/>
                <a:cs typeface="Times New Roman" panose="02020603050405020304" pitchFamily="18" charset="0"/>
              </a:rPr>
              <a:t> object. and "</a:t>
            </a:r>
            <a:r>
              <a:rPr lang="en-US" dirty="0" err="1">
                <a:latin typeface="Times New Roman" panose="02020603050405020304" pitchFamily="18" charset="0"/>
                <a:cs typeface="Times New Roman" panose="02020603050405020304" pitchFamily="18" charset="0"/>
              </a:rPr>
              <a:t>unstranded</a:t>
            </a:r>
            <a:r>
              <a:rPr lang="en-US" dirty="0">
                <a:latin typeface="Times New Roman" panose="02020603050405020304" pitchFamily="18" charset="0"/>
                <a:cs typeface="Times New Roman" panose="02020603050405020304" pitchFamily="18" charset="0"/>
              </a:rPr>
              <a:t>" because RNA-seq libraries are often </a:t>
            </a:r>
            <a:r>
              <a:rPr lang="en-US" dirty="0" err="1">
                <a:latin typeface="Times New Roman" panose="02020603050405020304" pitchFamily="18" charset="0"/>
                <a:cs typeface="Times New Roman" panose="02020603050405020304" pitchFamily="18" charset="0"/>
              </a:rPr>
              <a:t>unstranded</a:t>
            </a:r>
            <a:r>
              <a:rPr lang="en-US" dirty="0">
                <a:latin typeface="Times New Roman" panose="02020603050405020304" pitchFamily="18" charset="0"/>
                <a:cs typeface="Times New Roman" panose="02020603050405020304" pitchFamily="18" charset="0"/>
              </a:rPr>
              <a:t>, meaning the count represents all reads mapped to a gene regardless of which DNA strand they came from. The result, </a:t>
            </a:r>
            <a:r>
              <a:rPr lang="en-US" dirty="0" err="1">
                <a:latin typeface="Times New Roman" panose="02020603050405020304" pitchFamily="18" charset="0"/>
                <a:cs typeface="Times New Roman" panose="02020603050405020304" pitchFamily="18" charset="0"/>
              </a:rPr>
              <a:t>counts_matrix</a:t>
            </a:r>
            <a:r>
              <a:rPr lang="en-US" dirty="0">
                <a:latin typeface="Times New Roman" panose="02020603050405020304" pitchFamily="18" charset="0"/>
                <a:cs typeface="Times New Roman" panose="02020603050405020304" pitchFamily="18" charset="0"/>
              </a:rPr>
              <a:t>, has genes as rows, samples as columns, and integers (read counts) in the cells.</a:t>
            </a:r>
          </a:p>
          <a:p>
            <a:endParaRPr lang="en-US" dirty="0">
              <a:latin typeface="Times New Roman" panose="02020603050405020304" pitchFamily="18" charset="0"/>
              <a:cs typeface="Times New Roman" panose="02020603050405020304" pitchFamily="18" charset="0"/>
            </a:endParaRPr>
          </a:p>
          <a:p>
            <a:pPr marL="0" indent="0">
              <a:buNone/>
            </a:pPr>
            <a:endParaRPr lang="en-US" dirty="0"/>
          </a:p>
        </p:txBody>
      </p:sp>
      <p:sp>
        <p:nvSpPr>
          <p:cNvPr id="4" name="Date Placeholder 3">
            <a:extLst>
              <a:ext uri="{FF2B5EF4-FFF2-40B4-BE49-F238E27FC236}">
                <a16:creationId xmlns:a16="http://schemas.microsoft.com/office/drawing/2014/main" id="{F4B169A7-ED90-AD52-6DFA-CD2C74F83B92}"/>
              </a:ext>
            </a:extLst>
          </p:cNvPr>
          <p:cNvSpPr>
            <a:spLocks noGrp="1"/>
          </p:cNvSpPr>
          <p:nvPr>
            <p:ph type="dt" sz="half" idx="10"/>
          </p:nvPr>
        </p:nvSpPr>
        <p:spPr/>
        <p:txBody>
          <a:bodyPr/>
          <a:lstStyle/>
          <a:p>
            <a:r>
              <a:rPr lang="en-US"/>
              <a:t>9/4/2026</a:t>
            </a:r>
          </a:p>
        </p:txBody>
      </p:sp>
      <p:sp>
        <p:nvSpPr>
          <p:cNvPr id="5" name="Slide Number Placeholder 4">
            <a:extLst>
              <a:ext uri="{FF2B5EF4-FFF2-40B4-BE49-F238E27FC236}">
                <a16:creationId xmlns:a16="http://schemas.microsoft.com/office/drawing/2014/main" id="{13824D41-4C62-9917-069F-C6C355D2AA1C}"/>
              </a:ext>
            </a:extLst>
          </p:cNvPr>
          <p:cNvSpPr>
            <a:spLocks noGrp="1"/>
          </p:cNvSpPr>
          <p:nvPr>
            <p:ph type="sldNum" sz="quarter" idx="12"/>
          </p:nvPr>
        </p:nvSpPr>
        <p:spPr/>
        <p:txBody>
          <a:bodyPr/>
          <a:lstStyle/>
          <a:p>
            <a:fld id="{2A70D941-57F8-4881-9B87-49647FCDA0D6}" type="slidenum">
              <a:rPr lang="en-US" smtClean="0"/>
              <a:t>9</a:t>
            </a:fld>
            <a:endParaRPr lang="en-US"/>
          </a:p>
        </p:txBody>
      </p:sp>
      <p:pic>
        <p:nvPicPr>
          <p:cNvPr id="9" name="Picture 8">
            <a:extLst>
              <a:ext uri="{FF2B5EF4-FFF2-40B4-BE49-F238E27FC236}">
                <a16:creationId xmlns:a16="http://schemas.microsoft.com/office/drawing/2014/main" id="{32339C5F-A36F-3D64-EF52-AD03A47822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7042" y="3056845"/>
            <a:ext cx="3033023" cy="586791"/>
          </a:xfrm>
          <a:prstGeom prst="rect">
            <a:avLst/>
          </a:prstGeom>
        </p:spPr>
      </p:pic>
      <p:pic>
        <p:nvPicPr>
          <p:cNvPr id="11" name="Picture 10">
            <a:extLst>
              <a:ext uri="{FF2B5EF4-FFF2-40B4-BE49-F238E27FC236}">
                <a16:creationId xmlns:a16="http://schemas.microsoft.com/office/drawing/2014/main" id="{B2EB90E6-D71E-3DE3-8D00-47D654C623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30979" y="4802490"/>
            <a:ext cx="6325148" cy="434378"/>
          </a:xfrm>
          <a:prstGeom prst="rect">
            <a:avLst/>
          </a:prstGeom>
        </p:spPr>
      </p:pic>
    </p:spTree>
    <p:extLst>
      <p:ext uri="{BB962C8B-B14F-4D97-AF65-F5344CB8AC3E}">
        <p14:creationId xmlns:p14="http://schemas.microsoft.com/office/powerpoint/2010/main" val="18037469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9700F-7BA7-C660-8F8C-91F69F796CD6}"/>
              </a:ext>
            </a:extLst>
          </p:cNvPr>
          <p:cNvSpPr>
            <a:spLocks noGrp="1"/>
          </p:cNvSpPr>
          <p:nvPr>
            <p:ph type="title"/>
          </p:nvPr>
        </p:nvSpPr>
        <p:spPr>
          <a:xfrm>
            <a:off x="457200" y="1152257"/>
            <a:ext cx="11277600" cy="914400"/>
          </a:xfrm>
        </p:spPr>
        <p:txBody>
          <a:bodyPr anchor="b">
            <a:normAutofit/>
          </a:bodyPr>
          <a:lstStyle/>
          <a:p>
            <a:r>
              <a:rPr lang="en-US" dirty="0">
                <a:solidFill>
                  <a:schemeClr val="accent5"/>
                </a:solidFill>
              </a:rPr>
              <a:t>Step No. 4: Pre-processing &amp; filtering</a:t>
            </a:r>
          </a:p>
        </p:txBody>
      </p:sp>
      <p:sp>
        <p:nvSpPr>
          <p:cNvPr id="3" name="Content Placeholder 2">
            <a:extLst>
              <a:ext uri="{FF2B5EF4-FFF2-40B4-BE49-F238E27FC236}">
                <a16:creationId xmlns:a16="http://schemas.microsoft.com/office/drawing/2014/main" id="{6D9B2083-D3F1-2ECE-A392-AE286D02F7AA}"/>
              </a:ext>
            </a:extLst>
          </p:cNvPr>
          <p:cNvSpPr>
            <a:spLocks noGrp="1"/>
          </p:cNvSpPr>
          <p:nvPr>
            <p:ph sz="quarter" idx="15"/>
          </p:nvPr>
        </p:nvSpPr>
        <p:spPr>
          <a:xfrm>
            <a:off x="455613" y="2319230"/>
            <a:ext cx="5457825" cy="1751012"/>
          </a:xfrm>
        </p:spPr>
        <p:txBody>
          <a:bodyPr>
            <a:normAutofit/>
          </a:bodyPr>
          <a:lstStyle/>
          <a:p>
            <a:r>
              <a:rPr lang="en-US" dirty="0">
                <a:latin typeface="Times New Roman" panose="02020603050405020304" pitchFamily="18" charset="0"/>
                <a:cs typeface="Times New Roman" panose="02020603050405020304" pitchFamily="18" charset="0"/>
              </a:rPr>
              <a:t>This filters out genes with very low expression. The "quantile" method with </a:t>
            </a:r>
            <a:r>
              <a:rPr lang="en-US" dirty="0" err="1">
                <a:latin typeface="Times New Roman" panose="02020603050405020304" pitchFamily="18" charset="0"/>
                <a:cs typeface="Times New Roman" panose="02020603050405020304" pitchFamily="18" charset="0"/>
              </a:rPr>
              <a:t>qnt.cut</a:t>
            </a:r>
            <a:r>
              <a:rPr lang="en-US" dirty="0">
                <a:latin typeface="Times New Roman" panose="02020603050405020304" pitchFamily="18" charset="0"/>
                <a:cs typeface="Times New Roman" panose="02020603050405020304" pitchFamily="18" charset="0"/>
              </a:rPr>
              <a:t> = 0.25 calculates the mean expression of each gene across all samples. It then removes any gene whose mean expression falls in the bottom 25% of all genes. Removing genes that are barely transcribed reduces statistical noise and makes the subsequent differential expression analysis more accurate.</a:t>
            </a:r>
          </a:p>
        </p:txBody>
      </p:sp>
      <p:sp>
        <p:nvSpPr>
          <p:cNvPr id="4" name="Date Placeholder 3">
            <a:extLst>
              <a:ext uri="{FF2B5EF4-FFF2-40B4-BE49-F238E27FC236}">
                <a16:creationId xmlns:a16="http://schemas.microsoft.com/office/drawing/2014/main" id="{C9B6B5E0-4561-61B9-C8E6-767AF8EF4BF2}"/>
              </a:ext>
            </a:extLst>
          </p:cNvPr>
          <p:cNvSpPr>
            <a:spLocks noGrp="1"/>
          </p:cNvSpPr>
          <p:nvPr>
            <p:ph type="dt" sz="half" idx="10"/>
          </p:nvPr>
        </p:nvSpPr>
        <p:spPr/>
        <p:txBody>
          <a:bodyPr anchor="ctr">
            <a:normAutofit/>
          </a:bodyPr>
          <a:lstStyle/>
          <a:p>
            <a:pPr>
              <a:spcAft>
                <a:spcPts val="600"/>
              </a:spcAft>
            </a:pPr>
            <a:r>
              <a:rPr lang="en-US"/>
              <a:t>9/4/2026</a:t>
            </a:r>
          </a:p>
        </p:txBody>
      </p:sp>
      <p:sp>
        <p:nvSpPr>
          <p:cNvPr id="5" name="Slide Number Placeholder 4">
            <a:extLst>
              <a:ext uri="{FF2B5EF4-FFF2-40B4-BE49-F238E27FC236}">
                <a16:creationId xmlns:a16="http://schemas.microsoft.com/office/drawing/2014/main" id="{312A53F2-B520-222F-352B-4B38C9BC28DF}"/>
              </a:ext>
            </a:extLst>
          </p:cNvPr>
          <p:cNvSpPr>
            <a:spLocks noGrp="1"/>
          </p:cNvSpPr>
          <p:nvPr>
            <p:ph type="sldNum" sz="quarter" idx="12"/>
          </p:nvPr>
        </p:nvSpPr>
        <p:spPr/>
        <p:txBody>
          <a:bodyPr anchor="ctr">
            <a:normAutofit/>
          </a:bodyPr>
          <a:lstStyle/>
          <a:p>
            <a:pPr>
              <a:spcAft>
                <a:spcPts val="600"/>
              </a:spcAft>
            </a:pPr>
            <a:fld id="{2A70D941-57F8-4881-9B87-49647FCDA0D6}" type="slidenum">
              <a:rPr lang="en-US" smtClean="0"/>
              <a:pPr>
                <a:spcAft>
                  <a:spcPts val="600"/>
                </a:spcAft>
              </a:pPr>
              <a:t>10</a:t>
            </a:fld>
            <a:endParaRPr lang="en-US"/>
          </a:p>
        </p:txBody>
      </p:sp>
      <p:pic>
        <p:nvPicPr>
          <p:cNvPr id="7" name="Picture 6">
            <a:extLst>
              <a:ext uri="{FF2B5EF4-FFF2-40B4-BE49-F238E27FC236}">
                <a16:creationId xmlns:a16="http://schemas.microsoft.com/office/drawing/2014/main" id="{10D7B608-E9C4-C283-6DDA-09825D4CBA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78563" y="3392266"/>
            <a:ext cx="5075237" cy="1218056"/>
          </a:xfrm>
          <a:prstGeom prst="rect">
            <a:avLst/>
          </a:prstGeom>
          <a:noFill/>
        </p:spPr>
      </p:pic>
    </p:spTree>
    <p:extLst>
      <p:ext uri="{BB962C8B-B14F-4D97-AF65-F5344CB8AC3E}">
        <p14:creationId xmlns:p14="http://schemas.microsoft.com/office/powerpoint/2010/main" val="9707682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E3725-B617-3CCD-C30F-7F9379BA49C7}"/>
              </a:ext>
            </a:extLst>
          </p:cNvPr>
          <p:cNvSpPr>
            <a:spLocks noGrp="1"/>
          </p:cNvSpPr>
          <p:nvPr>
            <p:ph type="title"/>
          </p:nvPr>
        </p:nvSpPr>
        <p:spPr>
          <a:xfrm>
            <a:off x="346802" y="417934"/>
            <a:ext cx="10981137" cy="1325563"/>
          </a:xfrm>
        </p:spPr>
        <p:txBody>
          <a:bodyPr/>
          <a:lstStyle/>
          <a:p>
            <a:r>
              <a:rPr lang="en-US" dirty="0"/>
              <a:t>Step No. 5: Differential Expression Analysis (DEA)</a:t>
            </a:r>
          </a:p>
        </p:txBody>
      </p:sp>
      <p:sp>
        <p:nvSpPr>
          <p:cNvPr id="3" name="Content Placeholder 2">
            <a:extLst>
              <a:ext uri="{FF2B5EF4-FFF2-40B4-BE49-F238E27FC236}">
                <a16:creationId xmlns:a16="http://schemas.microsoft.com/office/drawing/2014/main" id="{E5BD4A26-8B31-171F-AA89-3C96AC1DA3AF}"/>
              </a:ext>
            </a:extLst>
          </p:cNvPr>
          <p:cNvSpPr>
            <a:spLocks noGrp="1"/>
          </p:cNvSpPr>
          <p:nvPr>
            <p:ph idx="1"/>
          </p:nvPr>
        </p:nvSpPr>
        <p:spPr>
          <a:xfrm>
            <a:off x="346802" y="1869774"/>
            <a:ext cx="11193596" cy="4441706"/>
          </a:xfrm>
        </p:spPr>
        <p:txBody>
          <a:bodyPr/>
          <a:lstStyle/>
          <a:p>
            <a:r>
              <a:rPr lang="en-US" dirty="0">
                <a:latin typeface="Times New Roman" panose="02020603050405020304" pitchFamily="18" charset="0"/>
                <a:cs typeface="Times New Roman" panose="02020603050405020304" pitchFamily="18" charset="0"/>
              </a:rPr>
              <a:t>These lines scan the column names (which contain TCGA barcodes) of your filtered matrix. It separates them into a list of Normal Tissue (NT) samples and a list of Primary Tumor (TP) samples.</a:t>
            </a:r>
          </a:p>
          <a:p>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pipeline = "edgeR" and method = "</a:t>
            </a:r>
            <a:r>
              <a:rPr lang="en-US" dirty="0" err="1">
                <a:latin typeface="Times New Roman" panose="02020603050405020304" pitchFamily="18" charset="0"/>
                <a:cs typeface="Times New Roman" panose="02020603050405020304" pitchFamily="18" charset="0"/>
              </a:rPr>
              <a:t>exactTest</a:t>
            </a:r>
            <a:r>
              <a:rPr lang="en-US" dirty="0">
                <a:latin typeface="Times New Roman" panose="02020603050405020304" pitchFamily="18" charset="0"/>
                <a:cs typeface="Times New Roman" panose="02020603050405020304" pitchFamily="18" charset="0"/>
              </a:rPr>
              <a:t>": You are telling TCGAbiolinks to use the edgeR package to run a statistical test (the exact test, based on the negative binomial distribution) to compare the counts.</a:t>
            </a:r>
          </a:p>
          <a:p>
            <a:pPr lvl="0"/>
            <a:r>
              <a:rPr lang="en-US" dirty="0">
                <a:latin typeface="Times New Roman" panose="02020603050405020304" pitchFamily="18" charset="0"/>
                <a:cs typeface="Times New Roman" panose="02020603050405020304" pitchFamily="18" charset="0"/>
              </a:rPr>
              <a:t>The function will output a </a:t>
            </a:r>
            <a:r>
              <a:rPr lang="en-US" dirty="0" err="1">
                <a:latin typeface="Times New Roman" panose="02020603050405020304" pitchFamily="18" charset="0"/>
                <a:cs typeface="Times New Roman" panose="02020603050405020304" pitchFamily="18" charset="0"/>
              </a:rPr>
              <a:t>dataframe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dataDEGs</a:t>
            </a:r>
            <a:r>
              <a:rPr lang="en-US" dirty="0">
                <a:latin typeface="Times New Roman" panose="02020603050405020304" pitchFamily="18" charset="0"/>
                <a:cs typeface="Times New Roman" panose="02020603050405020304" pitchFamily="18" charset="0"/>
              </a:rPr>
              <a:t>) containing all genes, their Log2 Fold Change (how much expression changed between normal and tumor), and their FDR (the adjusted p-value indicating statistical significance).</a:t>
            </a:r>
          </a:p>
          <a:p>
            <a:pPr marL="0" indent="0">
              <a:buNone/>
            </a:pPr>
            <a:endParaRPr lang="en-US" dirty="0"/>
          </a:p>
          <a:p>
            <a:endParaRPr lang="en-US" dirty="0"/>
          </a:p>
          <a:p>
            <a:pPr marL="0" indent="0">
              <a:buNone/>
            </a:pPr>
            <a:endParaRPr lang="en-US" dirty="0"/>
          </a:p>
        </p:txBody>
      </p:sp>
      <p:sp>
        <p:nvSpPr>
          <p:cNvPr id="4" name="Date Placeholder 3">
            <a:extLst>
              <a:ext uri="{FF2B5EF4-FFF2-40B4-BE49-F238E27FC236}">
                <a16:creationId xmlns:a16="http://schemas.microsoft.com/office/drawing/2014/main" id="{1548DA75-59AD-994C-5107-7A171D33BD0E}"/>
              </a:ext>
            </a:extLst>
          </p:cNvPr>
          <p:cNvSpPr>
            <a:spLocks noGrp="1"/>
          </p:cNvSpPr>
          <p:nvPr>
            <p:ph type="dt" sz="half" idx="10"/>
          </p:nvPr>
        </p:nvSpPr>
        <p:spPr/>
        <p:txBody>
          <a:bodyPr/>
          <a:lstStyle/>
          <a:p>
            <a:r>
              <a:rPr lang="en-US"/>
              <a:t>9/4/2026</a:t>
            </a:r>
          </a:p>
        </p:txBody>
      </p:sp>
      <p:sp>
        <p:nvSpPr>
          <p:cNvPr id="5" name="Slide Number Placeholder 4">
            <a:extLst>
              <a:ext uri="{FF2B5EF4-FFF2-40B4-BE49-F238E27FC236}">
                <a16:creationId xmlns:a16="http://schemas.microsoft.com/office/drawing/2014/main" id="{6897093A-AF27-5607-B3C3-CFBC7330CF63}"/>
              </a:ext>
            </a:extLst>
          </p:cNvPr>
          <p:cNvSpPr>
            <a:spLocks noGrp="1"/>
          </p:cNvSpPr>
          <p:nvPr>
            <p:ph type="sldNum" sz="quarter" idx="12"/>
          </p:nvPr>
        </p:nvSpPr>
        <p:spPr/>
        <p:txBody>
          <a:bodyPr/>
          <a:lstStyle/>
          <a:p>
            <a:fld id="{2A70D941-57F8-4881-9B87-49647FCDA0D6}" type="slidenum">
              <a:rPr lang="en-US" smtClean="0"/>
              <a:t>11</a:t>
            </a:fld>
            <a:endParaRPr lang="en-US"/>
          </a:p>
        </p:txBody>
      </p:sp>
      <p:pic>
        <p:nvPicPr>
          <p:cNvPr id="7" name="Picture 6">
            <a:extLst>
              <a:ext uri="{FF2B5EF4-FFF2-40B4-BE49-F238E27FC236}">
                <a16:creationId xmlns:a16="http://schemas.microsoft.com/office/drawing/2014/main" id="{C367A72C-9D84-0813-5378-5703859816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10065" y="2634178"/>
            <a:ext cx="5966977" cy="464860"/>
          </a:xfrm>
          <a:prstGeom prst="rect">
            <a:avLst/>
          </a:prstGeom>
        </p:spPr>
      </p:pic>
      <p:pic>
        <p:nvPicPr>
          <p:cNvPr id="9" name="Picture 8">
            <a:extLst>
              <a:ext uri="{FF2B5EF4-FFF2-40B4-BE49-F238E27FC236}">
                <a16:creationId xmlns:a16="http://schemas.microsoft.com/office/drawing/2014/main" id="{A74BB637-D792-129A-DFCF-1947A7B02D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3656" y="4550878"/>
            <a:ext cx="5199888" cy="1478990"/>
          </a:xfrm>
          <a:prstGeom prst="rect">
            <a:avLst/>
          </a:prstGeom>
        </p:spPr>
      </p:pic>
    </p:spTree>
    <p:extLst>
      <p:ext uri="{BB962C8B-B14F-4D97-AF65-F5344CB8AC3E}">
        <p14:creationId xmlns:p14="http://schemas.microsoft.com/office/powerpoint/2010/main" val="19264523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30D94-1FB2-13DB-ED3E-624A91C0ABB6}"/>
              </a:ext>
            </a:extLst>
          </p:cNvPr>
          <p:cNvSpPr>
            <a:spLocks noGrp="1"/>
          </p:cNvSpPr>
          <p:nvPr>
            <p:ph type="title"/>
          </p:nvPr>
        </p:nvSpPr>
        <p:spPr>
          <a:xfrm>
            <a:off x="612775" y="1074483"/>
            <a:ext cx="5046280" cy="1056745"/>
          </a:xfrm>
        </p:spPr>
        <p:txBody>
          <a:bodyPr anchor="b">
            <a:normAutofit/>
          </a:bodyPr>
          <a:lstStyle/>
          <a:p>
            <a:r>
              <a:rPr lang="en-US" dirty="0"/>
              <a:t>The visualization step</a:t>
            </a:r>
            <a:br>
              <a:rPr lang="en-US" dirty="0"/>
            </a:br>
            <a:r>
              <a:rPr lang="en-US" dirty="0"/>
              <a:t>(Volcano Plot)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5EA4CEA-7940-34E9-DC08-FCFDEFBEF24B}"/>
                  </a:ext>
                </a:extLst>
              </p:cNvPr>
              <p:cNvSpPr>
                <a:spLocks noGrp="1"/>
              </p:cNvSpPr>
              <p:nvPr>
                <p:ph sz="quarter" idx="14"/>
              </p:nvPr>
            </p:nvSpPr>
            <p:spPr>
              <a:xfrm>
                <a:off x="612775" y="2577697"/>
                <a:ext cx="4494063" cy="2035422"/>
              </a:xfrm>
            </p:spPr>
            <p:txBody>
              <a:bodyPr>
                <a:normAutofit/>
              </a:bodyPr>
              <a:lstStyle/>
              <a:p>
                <a:pPr lvl="0"/>
                <a:r>
                  <a:rPr lang="en-US" dirty="0">
                    <a:latin typeface="Times New Roman" panose="02020603050405020304" pitchFamily="18" charset="0"/>
                    <a:cs typeface="Times New Roman" panose="02020603050405020304" pitchFamily="18" charset="0"/>
                  </a:rPr>
                  <a:t>x is the fold-change; y is the significance.</a:t>
                </a:r>
              </a:p>
              <a:p>
                <a:pPr lvl="0"/>
                <a:r>
                  <a:rPr lang="en-US" dirty="0" err="1">
                    <a:latin typeface="Times New Roman" panose="02020603050405020304" pitchFamily="18" charset="0"/>
                    <a:cs typeface="Times New Roman" panose="02020603050405020304" pitchFamily="18" charset="0"/>
                  </a:rPr>
                  <a:t>x.cut</a:t>
                </a:r>
                <a:r>
                  <a:rPr lang="en-US" dirty="0">
                    <a:latin typeface="Times New Roman" panose="02020603050405020304" pitchFamily="18" charset="0"/>
                    <a:cs typeface="Times New Roman" panose="02020603050405020304" pitchFamily="18" charset="0"/>
                  </a:rPr>
                  <a:t> = 1 and </a:t>
                </a:r>
                <a:r>
                  <a:rPr lang="en-US" dirty="0" err="1">
                    <a:latin typeface="Times New Roman" panose="02020603050405020304" pitchFamily="18" charset="0"/>
                    <a:cs typeface="Times New Roman" panose="02020603050405020304" pitchFamily="18" charset="0"/>
                  </a:rPr>
                  <a:t>y.cut</a:t>
                </a:r>
                <a:r>
                  <a:rPr lang="en-US" dirty="0">
                    <a:latin typeface="Times New Roman" panose="02020603050405020304" pitchFamily="18" charset="0"/>
                    <a:cs typeface="Times New Roman" panose="02020603050405020304" pitchFamily="18" charset="0"/>
                  </a:rPr>
                  <a:t> = 0.05 draw the threshold lines (representing </a:t>
                </a:r>
                <a14:m>
                  <m:oMath xmlns:m="http://schemas.openxmlformats.org/officeDocument/2006/math">
                    <m:r>
                      <m:rPr>
                        <m:nor/>
                      </m:rPr>
                      <a:rPr lang="en-US" i="0">
                        <a:latin typeface="Times New Roman" panose="02020603050405020304" pitchFamily="18" charset="0"/>
                        <a:cs typeface="Times New Roman" panose="02020603050405020304" pitchFamily="18" charset="0"/>
                      </a:rPr>
                      <m:t>Log2FC</m:t>
                    </m:r>
                    <m:r>
                      <a:rPr lang="en-US" b="0" smtClean="0">
                        <a:latin typeface="Cambria Math" panose="02040503050406030204" pitchFamily="18" charset="0"/>
                      </a:rPr>
                      <m:t>&gt;</m:t>
                    </m:r>
                    <m:r>
                      <a:rPr lang="en-US" b="0" i="1" smtClean="0">
                        <a:latin typeface="Cambria Math" panose="02040503050406030204" pitchFamily="18" charset="0"/>
                      </a:rPr>
                      <m:t>1</m:t>
                    </m:r>
                  </m:oMath>
                </a14:m>
                <a:r>
                  <a:rPr lang="en-US" dirty="0">
                    <a:latin typeface="Times New Roman" panose="02020603050405020304" pitchFamily="18" charset="0"/>
                    <a:cs typeface="Times New Roman" panose="02020603050405020304" pitchFamily="18" charset="0"/>
                  </a:rPr>
                  <a:t>or </a:t>
                </a:r>
                <a14:m>
                  <m:oMath xmlns:m="http://schemas.openxmlformats.org/officeDocument/2006/math">
                    <m:r>
                      <a:rPr lang="en-US" b="0" smtClean="0">
                        <a:latin typeface="Cambria Math" panose="02040503050406030204" pitchFamily="18" charset="0"/>
                      </a:rPr>
                      <m:t>&lt;−</m:t>
                    </m:r>
                    <m:r>
                      <a:rPr lang="en-US" b="0" i="1" smtClean="0">
                        <a:latin typeface="Cambria Math" panose="02040503050406030204" pitchFamily="18" charset="0"/>
                      </a:rPr>
                      <m:t>1</m:t>
                    </m:r>
                  </m:oMath>
                </a14:m>
                <a:r>
                  <a:rPr lang="en-US" dirty="0">
                    <a:latin typeface="Times New Roman" panose="02020603050405020304" pitchFamily="18" charset="0"/>
                    <a:cs typeface="Times New Roman" panose="02020603050405020304" pitchFamily="18" charset="0"/>
                  </a:rPr>
                  <a:t>, and </a:t>
                </a:r>
                <a14:m>
                  <m:oMath xmlns:m="http://schemas.openxmlformats.org/officeDocument/2006/math">
                    <m:r>
                      <m:rPr>
                        <m:nor/>
                      </m:rPr>
                      <a:rPr lang="en-US" i="0">
                        <a:latin typeface="Times New Roman" panose="02020603050405020304" pitchFamily="18" charset="0"/>
                        <a:cs typeface="Times New Roman" panose="02020603050405020304" pitchFamily="18" charset="0"/>
                      </a:rPr>
                      <m:t>FDR</m:t>
                    </m:r>
                    <m:r>
                      <a:rPr lang="en-US" b="0" smtClean="0">
                        <a:latin typeface="Cambria Math" panose="02040503050406030204" pitchFamily="18" charset="0"/>
                      </a:rPr>
                      <m:t>&lt;</m:t>
                    </m:r>
                    <m:r>
                      <a:rPr lang="en-US" b="0" i="1" smtClean="0">
                        <a:latin typeface="Cambria Math" panose="02040503050406030204" pitchFamily="18" charset="0"/>
                      </a:rPr>
                      <m:t>0</m:t>
                    </m:r>
                    <m:r>
                      <a:rPr lang="en-US" b="0" smtClean="0">
                        <a:latin typeface="Cambria Math" panose="02040503050406030204" pitchFamily="18" charset="0"/>
                      </a:rPr>
                      <m:t>.</m:t>
                    </m:r>
                    <m:r>
                      <a:rPr lang="en-US" b="0" i="1" smtClean="0">
                        <a:latin typeface="Cambria Math" panose="02040503050406030204" pitchFamily="18" charset="0"/>
                      </a:rPr>
                      <m:t>05</m:t>
                    </m:r>
                  </m:oMath>
                </a14:m>
                <a:r>
                  <a:rPr lang="en-US" dirty="0">
                    <a:latin typeface="Times New Roman" panose="02020603050405020304" pitchFamily="18" charset="0"/>
                    <a:cs typeface="Times New Roman" panose="02020603050405020304" pitchFamily="18" charset="0"/>
                  </a:rPr>
                  <a:t>).</a:t>
                </a:r>
              </a:p>
              <a:p>
                <a:pPr lvl="0"/>
                <a:r>
                  <a:rPr lang="en-US" dirty="0">
                    <a:latin typeface="Times New Roman" panose="02020603050405020304" pitchFamily="18" charset="0"/>
                    <a:cs typeface="Times New Roman" panose="02020603050405020304" pitchFamily="18" charset="0"/>
                  </a:rPr>
                  <a:t>It will color-code genes as significant or not based on those cuts and specifically label the </a:t>
                </a:r>
                <a:r>
                  <a:rPr lang="en-US" dirty="0" err="1">
                    <a:latin typeface="Times New Roman" panose="02020603050405020304" pitchFamily="18" charset="0"/>
                    <a:cs typeface="Times New Roman" panose="02020603050405020304" pitchFamily="18" charset="0"/>
                  </a:rPr>
                  <a:t>top_genes</a:t>
                </a:r>
                <a:r>
                  <a:rPr lang="en-US" dirty="0">
                    <a:latin typeface="Times New Roman" panose="02020603050405020304" pitchFamily="18" charset="0"/>
                    <a:cs typeface="Times New Roman" panose="02020603050405020304" pitchFamily="18" charset="0"/>
                  </a:rPr>
                  <a:t> you defined in the previous step.</a:t>
                </a:r>
              </a:p>
              <a:p>
                <a:pPr marL="0" indent="0">
                  <a:buNone/>
                </a:pPr>
                <a:endParaRPr lang="en-US" dirty="0"/>
              </a:p>
            </p:txBody>
          </p:sp>
        </mc:Choice>
        <mc:Fallback>
          <p:sp>
            <p:nvSpPr>
              <p:cNvPr id="3" name="Content Placeholder 2">
                <a:extLst>
                  <a:ext uri="{FF2B5EF4-FFF2-40B4-BE49-F238E27FC236}">
                    <a16:creationId xmlns:a16="http://schemas.microsoft.com/office/drawing/2014/main" id="{45EA4CEA-7940-34E9-DC08-FCFDEFBEF24B}"/>
                  </a:ext>
                </a:extLst>
              </p:cNvPr>
              <p:cNvSpPr>
                <a:spLocks noGrp="1" noRot="1" noChangeAspect="1" noMove="1" noResize="1" noEditPoints="1" noAdjustHandles="1" noChangeArrowheads="1" noChangeShapeType="1" noTextEdit="1"/>
              </p:cNvSpPr>
              <p:nvPr>
                <p:ph sz="quarter" idx="14"/>
              </p:nvPr>
            </p:nvSpPr>
            <p:spPr>
              <a:xfrm>
                <a:off x="612775" y="2577697"/>
                <a:ext cx="4494063" cy="2035422"/>
              </a:xfrm>
              <a:blipFill>
                <a:blip r:embed="rId2"/>
                <a:stretch>
                  <a:fillRect l="-27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A9F38790-7881-FDBA-B1D3-0C2C09826F44}"/>
              </a:ext>
            </a:extLst>
          </p:cNvPr>
          <p:cNvSpPr>
            <a:spLocks noGrp="1"/>
          </p:cNvSpPr>
          <p:nvPr>
            <p:ph type="dt" sz="half" idx="10"/>
          </p:nvPr>
        </p:nvSpPr>
        <p:spPr/>
        <p:txBody>
          <a:bodyPr anchor="ctr">
            <a:normAutofit/>
          </a:bodyPr>
          <a:lstStyle/>
          <a:p>
            <a:pPr>
              <a:spcAft>
                <a:spcPts val="600"/>
              </a:spcAft>
            </a:pPr>
            <a:r>
              <a:rPr lang="en-US"/>
              <a:t>9/4/2026</a:t>
            </a:r>
          </a:p>
        </p:txBody>
      </p:sp>
      <p:sp>
        <p:nvSpPr>
          <p:cNvPr id="5" name="Slide Number Placeholder 4">
            <a:extLst>
              <a:ext uri="{FF2B5EF4-FFF2-40B4-BE49-F238E27FC236}">
                <a16:creationId xmlns:a16="http://schemas.microsoft.com/office/drawing/2014/main" id="{F7FA1904-5ECA-677C-4124-D27001E456E3}"/>
              </a:ext>
            </a:extLst>
          </p:cNvPr>
          <p:cNvSpPr>
            <a:spLocks noGrp="1"/>
          </p:cNvSpPr>
          <p:nvPr>
            <p:ph type="sldNum" sz="quarter" idx="12"/>
          </p:nvPr>
        </p:nvSpPr>
        <p:spPr/>
        <p:txBody>
          <a:bodyPr anchor="ctr">
            <a:normAutofit/>
          </a:bodyPr>
          <a:lstStyle/>
          <a:p>
            <a:pPr>
              <a:spcAft>
                <a:spcPts val="600"/>
              </a:spcAft>
            </a:pPr>
            <a:fld id="{2A70D941-57F8-4881-9B87-49647FCDA0D6}" type="slidenum">
              <a:rPr lang="en-US" smtClean="0"/>
              <a:pPr>
                <a:spcAft>
                  <a:spcPts val="600"/>
                </a:spcAft>
              </a:pPr>
              <a:t>12</a:t>
            </a:fld>
            <a:endParaRPr lang="en-US"/>
          </a:p>
        </p:txBody>
      </p:sp>
      <p:pic>
        <p:nvPicPr>
          <p:cNvPr id="7" name="Picture 6">
            <a:extLst>
              <a:ext uri="{FF2B5EF4-FFF2-40B4-BE49-F238E27FC236}">
                <a16:creationId xmlns:a16="http://schemas.microsoft.com/office/drawing/2014/main" id="{D43A6A55-A2C3-06F0-DD00-E347A8AFB0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58928" y="2244880"/>
            <a:ext cx="6533072" cy="2368239"/>
          </a:xfrm>
          <a:prstGeom prst="rect">
            <a:avLst/>
          </a:prstGeom>
          <a:noFill/>
        </p:spPr>
      </p:pic>
    </p:spTree>
    <p:extLst>
      <p:ext uri="{BB962C8B-B14F-4D97-AF65-F5344CB8AC3E}">
        <p14:creationId xmlns:p14="http://schemas.microsoft.com/office/powerpoint/2010/main" val="1408899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60620-22C1-BD05-DAA1-702C07E746A7}"/>
              </a:ext>
            </a:extLst>
          </p:cNvPr>
          <p:cNvSpPr>
            <a:spLocks noGrp="1"/>
          </p:cNvSpPr>
          <p:nvPr>
            <p:ph type="title"/>
          </p:nvPr>
        </p:nvSpPr>
        <p:spPr/>
        <p:txBody>
          <a:bodyPr>
            <a:normAutofit/>
          </a:bodyPr>
          <a:lstStyle/>
          <a:p>
            <a:r>
              <a:rPr lang="en-US" dirty="0"/>
              <a:t>Step No. 6: Prepare gene lists (up and down regulated)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96294F5-5543-288C-CA47-A553B2EBE4D2}"/>
                  </a:ext>
                </a:extLst>
              </p:cNvPr>
              <p:cNvSpPr>
                <a:spLocks noGrp="1"/>
              </p:cNvSpPr>
              <p:nvPr>
                <p:ph idx="1"/>
              </p:nvPr>
            </p:nvSpPr>
            <p:spPr>
              <a:xfrm>
                <a:off x="612647" y="2060996"/>
                <a:ext cx="10963656" cy="1088604"/>
              </a:xfrm>
            </p:spPr>
            <p:txBody>
              <a:bodyPr>
                <a:normAutofit/>
              </a:bodyPr>
              <a:lstStyle/>
              <a:p>
                <a:r>
                  <a:rPr lang="en-US" dirty="0">
                    <a:latin typeface="Times New Roman" panose="02020603050405020304" pitchFamily="18" charset="0"/>
                    <a:cs typeface="Times New Roman" panose="02020603050405020304" pitchFamily="18" charset="0"/>
                  </a:rPr>
                  <a:t>Filtering the results table. </a:t>
                </a:r>
                <a:r>
                  <a:rPr lang="en-US" dirty="0" err="1">
                    <a:latin typeface="Times New Roman" panose="02020603050405020304" pitchFamily="18" charset="0"/>
                    <a:cs typeface="Times New Roman" panose="02020603050405020304" pitchFamily="18" charset="0"/>
                  </a:rPr>
                  <a:t>up_genes</a:t>
                </a:r>
                <a:r>
                  <a:rPr lang="en-US" dirty="0">
                    <a:latin typeface="Times New Roman" panose="02020603050405020304" pitchFamily="18" charset="0"/>
                    <a:cs typeface="Times New Roman" panose="02020603050405020304" pitchFamily="18" charset="0"/>
                  </a:rPr>
                  <a:t> will only contain genes that are highly expressed in the tumor (</a:t>
                </a:r>
                <a14:m>
                  <m:oMath xmlns:m="http://schemas.openxmlformats.org/officeDocument/2006/math">
                    <m:r>
                      <m:rPr>
                        <m:nor/>
                      </m:rPr>
                      <a:rPr lang="en-US" i="0">
                        <a:latin typeface="Times New Roman" panose="02020603050405020304" pitchFamily="18" charset="0"/>
                        <a:cs typeface="Times New Roman" panose="02020603050405020304" pitchFamily="18" charset="0"/>
                      </a:rPr>
                      <m:t>logFC</m:t>
                    </m:r>
                    <m:r>
                      <a:rPr lang="en-US" b="0" smtClean="0">
                        <a:latin typeface="Cambria Math" panose="02040503050406030204" pitchFamily="18" charset="0"/>
                      </a:rPr>
                      <m:t>&gt;</m:t>
                    </m:r>
                    <m:r>
                      <a:rPr lang="en-US" b="0" i="1">
                        <a:latin typeface="Cambria Math" panose="02040503050406030204" pitchFamily="18" charset="0"/>
                      </a:rPr>
                      <m:t>1</m:t>
                    </m:r>
                  </m:oMath>
                </a14:m>
                <a:r>
                  <a:rPr lang="en-US" dirty="0">
                    <a:latin typeface="Times New Roman" panose="02020603050405020304" pitchFamily="18" charset="0"/>
                    <a:cs typeface="Times New Roman" panose="02020603050405020304" pitchFamily="18" charset="0"/>
                  </a:rPr>
                  <a:t>) and statistically significant (</a:t>
                </a:r>
                <a14:m>
                  <m:oMath xmlns:m="http://schemas.openxmlformats.org/officeDocument/2006/math">
                    <m:r>
                      <m:rPr>
                        <m:nor/>
                      </m:rPr>
                      <a:rPr lang="en-US" i="0">
                        <a:latin typeface="Times New Roman" panose="02020603050405020304" pitchFamily="18" charset="0"/>
                        <a:cs typeface="Times New Roman" panose="02020603050405020304" pitchFamily="18" charset="0"/>
                      </a:rPr>
                      <m:t>FDR</m:t>
                    </m:r>
                    <m:r>
                      <a:rPr lang="en-US" b="0" smtClean="0">
                        <a:latin typeface="Cambria Math" panose="02040503050406030204" pitchFamily="18" charset="0"/>
                      </a:rPr>
                      <m:t>&lt;</m:t>
                    </m:r>
                    <m:r>
                      <a:rPr lang="en-US" b="0" i="1">
                        <a:latin typeface="Cambria Math" panose="02040503050406030204" pitchFamily="18" charset="0"/>
                      </a:rPr>
                      <m:t>0</m:t>
                    </m:r>
                    <m:r>
                      <a:rPr lang="en-US" b="0">
                        <a:latin typeface="Cambria Math" panose="02040503050406030204" pitchFamily="18" charset="0"/>
                      </a:rPr>
                      <m:t>.</m:t>
                    </m:r>
                    <m:r>
                      <a:rPr lang="en-US" b="0" i="1">
                        <a:latin typeface="Cambria Math" panose="02040503050406030204" pitchFamily="18" charset="0"/>
                      </a:rPr>
                      <m:t>05</m:t>
                    </m:r>
                  </m:oMath>
                </a14:m>
                <a:r>
                  <a:rPr lang="en-US" dirty="0">
                    <a:latin typeface="Times New Roman" panose="02020603050405020304" pitchFamily="18" charset="0"/>
                    <a:cs typeface="Times New Roman" panose="02020603050405020304" pitchFamily="18" charset="0"/>
                  </a:rPr>
                  <a:t>). </a:t>
                </a:r>
              </a:p>
              <a:p>
                <a:r>
                  <a:rPr lang="en-US" dirty="0" err="1">
                    <a:latin typeface="Times New Roman" panose="02020603050405020304" pitchFamily="18" charset="0"/>
                    <a:cs typeface="Times New Roman" panose="02020603050405020304" pitchFamily="18" charset="0"/>
                  </a:rPr>
                  <a:t>down_genes</a:t>
                </a:r>
                <a:r>
                  <a:rPr lang="en-US" dirty="0">
                    <a:latin typeface="Times New Roman" panose="02020603050405020304" pitchFamily="18" charset="0"/>
                    <a:cs typeface="Times New Roman" panose="02020603050405020304" pitchFamily="18" charset="0"/>
                  </a:rPr>
                  <a:t> isolates the genes that are suppressed in the tumor.</a:t>
                </a:r>
              </a:p>
            </p:txBody>
          </p:sp>
        </mc:Choice>
        <mc:Fallback>
          <p:sp>
            <p:nvSpPr>
              <p:cNvPr id="3" name="Content Placeholder 2">
                <a:extLst>
                  <a:ext uri="{FF2B5EF4-FFF2-40B4-BE49-F238E27FC236}">
                    <a16:creationId xmlns:a16="http://schemas.microsoft.com/office/drawing/2014/main" id="{F96294F5-5543-288C-CA47-A553B2EBE4D2}"/>
                  </a:ext>
                </a:extLst>
              </p:cNvPr>
              <p:cNvSpPr>
                <a:spLocks noGrp="1" noRot="1" noChangeAspect="1" noMove="1" noResize="1" noEditPoints="1" noAdjustHandles="1" noChangeArrowheads="1" noChangeShapeType="1" noTextEdit="1"/>
              </p:cNvSpPr>
              <p:nvPr>
                <p:ph idx="1"/>
              </p:nvPr>
            </p:nvSpPr>
            <p:spPr>
              <a:xfrm>
                <a:off x="612647" y="2060996"/>
                <a:ext cx="10963656" cy="1088604"/>
              </a:xfrm>
              <a:blipFill>
                <a:blip r:embed="rId2"/>
                <a:stretch>
                  <a:fillRect l="-56"/>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C9093B4F-60E8-B04C-0AE6-08B1AA6C456E}"/>
              </a:ext>
            </a:extLst>
          </p:cNvPr>
          <p:cNvSpPr>
            <a:spLocks noGrp="1"/>
          </p:cNvSpPr>
          <p:nvPr>
            <p:ph type="dt" sz="half" idx="10"/>
          </p:nvPr>
        </p:nvSpPr>
        <p:spPr/>
        <p:txBody>
          <a:bodyPr/>
          <a:lstStyle/>
          <a:p>
            <a:r>
              <a:rPr lang="en-US"/>
              <a:t>9/4/2026</a:t>
            </a:r>
          </a:p>
        </p:txBody>
      </p:sp>
      <p:sp>
        <p:nvSpPr>
          <p:cNvPr id="5" name="Slide Number Placeholder 4">
            <a:extLst>
              <a:ext uri="{FF2B5EF4-FFF2-40B4-BE49-F238E27FC236}">
                <a16:creationId xmlns:a16="http://schemas.microsoft.com/office/drawing/2014/main" id="{B42BB2AB-8C93-978C-299B-23E8A8E52970}"/>
              </a:ext>
            </a:extLst>
          </p:cNvPr>
          <p:cNvSpPr>
            <a:spLocks noGrp="1"/>
          </p:cNvSpPr>
          <p:nvPr>
            <p:ph type="sldNum" sz="quarter" idx="12"/>
          </p:nvPr>
        </p:nvSpPr>
        <p:spPr/>
        <p:txBody>
          <a:bodyPr/>
          <a:lstStyle/>
          <a:p>
            <a:fld id="{2A70D941-57F8-4881-9B87-49647FCDA0D6}" type="slidenum">
              <a:rPr lang="en-US" smtClean="0"/>
              <a:t>13</a:t>
            </a:fld>
            <a:endParaRPr lang="en-US"/>
          </a:p>
        </p:txBody>
      </p:sp>
      <p:pic>
        <p:nvPicPr>
          <p:cNvPr id="9" name="Picture 8">
            <a:extLst>
              <a:ext uri="{FF2B5EF4-FFF2-40B4-BE49-F238E27FC236}">
                <a16:creationId xmlns:a16="http://schemas.microsoft.com/office/drawing/2014/main" id="{46C33C72-2EFA-7F12-0ADC-45567F484E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2053" y="3708401"/>
            <a:ext cx="4884843" cy="472481"/>
          </a:xfrm>
          <a:prstGeom prst="rect">
            <a:avLst/>
          </a:prstGeom>
        </p:spPr>
      </p:pic>
    </p:spTree>
    <p:extLst>
      <p:ext uri="{BB962C8B-B14F-4D97-AF65-F5344CB8AC3E}">
        <p14:creationId xmlns:p14="http://schemas.microsoft.com/office/powerpoint/2010/main" val="34003155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D723C-714E-0AB8-1F58-AB90ECF3FA82}"/>
              </a:ext>
            </a:extLst>
          </p:cNvPr>
          <p:cNvSpPr>
            <a:spLocks noGrp="1"/>
          </p:cNvSpPr>
          <p:nvPr>
            <p:ph type="title"/>
          </p:nvPr>
        </p:nvSpPr>
        <p:spPr/>
        <p:txBody>
          <a:bodyPr anchor="b">
            <a:normAutofit/>
          </a:bodyPr>
          <a:lstStyle/>
          <a:p>
            <a:r>
              <a:rPr lang="en-US" dirty="0"/>
              <a:t>Preparing data for Enrichment Analysis (EA)</a:t>
            </a:r>
          </a:p>
        </p:txBody>
      </p:sp>
      <p:sp>
        <p:nvSpPr>
          <p:cNvPr id="3" name="Content Placeholder 2">
            <a:extLst>
              <a:ext uri="{FF2B5EF4-FFF2-40B4-BE49-F238E27FC236}">
                <a16:creationId xmlns:a16="http://schemas.microsoft.com/office/drawing/2014/main" id="{B99C22F6-F05B-31E0-AE70-87F970EB5828}"/>
              </a:ext>
            </a:extLst>
          </p:cNvPr>
          <p:cNvSpPr>
            <a:spLocks noGrp="1"/>
          </p:cNvSpPr>
          <p:nvPr>
            <p:ph sz="quarter" idx="14"/>
          </p:nvPr>
        </p:nvSpPr>
        <p:spPr/>
        <p:txBody>
          <a:bodyPr>
            <a:normAutofit/>
          </a:bodyPr>
          <a:lstStyle/>
          <a:p>
            <a:r>
              <a:rPr lang="en-US" dirty="0">
                <a:latin typeface="Times New Roman" panose="02020603050405020304" pitchFamily="18" charset="0"/>
                <a:cs typeface="Times New Roman" panose="02020603050405020304" pitchFamily="18" charset="0"/>
              </a:rPr>
              <a:t>This is a crucial data conversion step. The raw counts use </a:t>
            </a:r>
            <a:r>
              <a:rPr lang="en-US" dirty="0" err="1">
                <a:latin typeface="Times New Roman" panose="02020603050405020304" pitchFamily="18" charset="0"/>
                <a:cs typeface="Times New Roman" panose="02020603050405020304" pitchFamily="18" charset="0"/>
              </a:rPr>
              <a:t>Ensembl</a:t>
            </a:r>
            <a:r>
              <a:rPr lang="en-US" dirty="0">
                <a:latin typeface="Times New Roman" panose="02020603050405020304" pitchFamily="18" charset="0"/>
                <a:cs typeface="Times New Roman" panose="02020603050405020304" pitchFamily="18" charset="0"/>
              </a:rPr>
              <a:t> IDs (e.g., ENSG00000141510), but pathway databases (like KEGG) prefer standard HUGO gene symbols (e.g., TP53). We are going back to your original </a:t>
            </a:r>
            <a:r>
              <a:rPr lang="en-US" dirty="0" err="1">
                <a:latin typeface="Times New Roman" panose="02020603050405020304" pitchFamily="18" charset="0"/>
                <a:cs typeface="Times New Roman" panose="02020603050405020304" pitchFamily="18" charset="0"/>
              </a:rPr>
              <a:t>data_LUAD</a:t>
            </a:r>
            <a:r>
              <a:rPr lang="en-US" dirty="0">
                <a:latin typeface="Times New Roman" panose="02020603050405020304" pitchFamily="18" charset="0"/>
                <a:cs typeface="Times New Roman" panose="02020603050405020304" pitchFamily="18" charset="0"/>
              </a:rPr>
              <a:t> object, accessing the </a:t>
            </a:r>
            <a:r>
              <a:rPr lang="en-US" dirty="0" err="1">
                <a:latin typeface="Times New Roman" panose="02020603050405020304" pitchFamily="18" charset="0"/>
                <a:cs typeface="Times New Roman" panose="02020603050405020304" pitchFamily="18" charset="0"/>
              </a:rPr>
              <a:t>rowData</a:t>
            </a:r>
            <a:r>
              <a:rPr lang="en-US" dirty="0">
                <a:latin typeface="Times New Roman" panose="02020603050405020304" pitchFamily="18" charset="0"/>
                <a:cs typeface="Times New Roman" panose="02020603050405020304" pitchFamily="18" charset="0"/>
              </a:rPr>
              <a:t> (which contains gene annotations), matching your significant </a:t>
            </a:r>
            <a:r>
              <a:rPr lang="en-US" dirty="0" err="1">
                <a:latin typeface="Times New Roman" panose="02020603050405020304" pitchFamily="18" charset="0"/>
                <a:cs typeface="Times New Roman" panose="02020603050405020304" pitchFamily="18" charset="0"/>
              </a:rPr>
              <a:t>Ensembl</a:t>
            </a:r>
            <a:r>
              <a:rPr lang="en-US" dirty="0">
                <a:latin typeface="Times New Roman" panose="02020603050405020304" pitchFamily="18" charset="0"/>
                <a:cs typeface="Times New Roman" panose="02020603050405020304" pitchFamily="18" charset="0"/>
              </a:rPr>
              <a:t> IDs, and extracting the corresponding "</a:t>
            </a:r>
            <a:r>
              <a:rPr lang="en-US" dirty="0" err="1">
                <a:latin typeface="Times New Roman" panose="02020603050405020304" pitchFamily="18" charset="0"/>
                <a:cs typeface="Times New Roman" panose="02020603050405020304" pitchFamily="18" charset="0"/>
              </a:rPr>
              <a:t>gene_name</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Also, we cleans the gene lists before pathway analysis. </a:t>
            </a:r>
          </a:p>
          <a:p>
            <a:pPr marL="800100" lvl="2" indent="-342900">
              <a:buFont typeface="+mj-lt"/>
              <a:buAutoNum type="arabicPeriod"/>
            </a:pPr>
            <a:r>
              <a:rPr lang="en-US" dirty="0">
                <a:latin typeface="Times New Roman" panose="02020603050405020304" pitchFamily="18" charset="0"/>
                <a:cs typeface="Times New Roman" panose="02020603050405020304" pitchFamily="18" charset="0"/>
              </a:rPr>
              <a:t>unique() removes duplicates. </a:t>
            </a:r>
          </a:p>
          <a:p>
            <a:pPr marL="800100" lvl="2" indent="-342900">
              <a:buFont typeface="+mj-lt"/>
              <a:buAutoNum type="arabicPeriod"/>
            </a:pPr>
            <a:r>
              <a:rPr lang="en-US" dirty="0" err="1">
                <a:latin typeface="Times New Roman" panose="02020603050405020304" pitchFamily="18" charset="0"/>
                <a:cs typeface="Times New Roman" panose="02020603050405020304" pitchFamily="18" charset="0"/>
              </a:rPr>
              <a:t>na.omit</a:t>
            </a:r>
            <a:r>
              <a:rPr lang="en-US" dirty="0">
                <a:latin typeface="Times New Roman" panose="02020603050405020304" pitchFamily="18" charset="0"/>
                <a:cs typeface="Times New Roman" panose="02020603050405020304" pitchFamily="18" charset="0"/>
              </a:rPr>
              <a:t>() removes any genes that didn't have a mapped symbol, ensuring the pathway tool doesn't crash on bad data.</a:t>
            </a:r>
          </a:p>
        </p:txBody>
      </p:sp>
      <p:sp>
        <p:nvSpPr>
          <p:cNvPr id="4" name="Date Placeholder 3">
            <a:extLst>
              <a:ext uri="{FF2B5EF4-FFF2-40B4-BE49-F238E27FC236}">
                <a16:creationId xmlns:a16="http://schemas.microsoft.com/office/drawing/2014/main" id="{14314B4E-A7A4-F0C9-35E7-09612B552E05}"/>
              </a:ext>
            </a:extLst>
          </p:cNvPr>
          <p:cNvSpPr>
            <a:spLocks noGrp="1"/>
          </p:cNvSpPr>
          <p:nvPr>
            <p:ph type="dt" sz="half" idx="15"/>
          </p:nvPr>
        </p:nvSpPr>
        <p:spPr/>
        <p:txBody>
          <a:bodyPr anchor="ctr">
            <a:normAutofit/>
          </a:bodyPr>
          <a:lstStyle/>
          <a:p>
            <a:pPr>
              <a:spcAft>
                <a:spcPts val="600"/>
              </a:spcAft>
            </a:pPr>
            <a:r>
              <a:rPr lang="en-US"/>
              <a:t>9/4/2026</a:t>
            </a:r>
          </a:p>
        </p:txBody>
      </p:sp>
      <p:sp>
        <p:nvSpPr>
          <p:cNvPr id="5" name="Slide Number Placeholder 4">
            <a:extLst>
              <a:ext uri="{FF2B5EF4-FFF2-40B4-BE49-F238E27FC236}">
                <a16:creationId xmlns:a16="http://schemas.microsoft.com/office/drawing/2014/main" id="{06A26702-2573-CA73-BDAF-B6FADC7D5139}"/>
              </a:ext>
            </a:extLst>
          </p:cNvPr>
          <p:cNvSpPr>
            <a:spLocks noGrp="1"/>
          </p:cNvSpPr>
          <p:nvPr>
            <p:ph type="sldNum" sz="quarter" idx="17"/>
          </p:nvPr>
        </p:nvSpPr>
        <p:spPr/>
        <p:txBody>
          <a:bodyPr anchor="ctr">
            <a:normAutofit/>
          </a:bodyPr>
          <a:lstStyle/>
          <a:p>
            <a:pPr>
              <a:spcAft>
                <a:spcPts val="600"/>
              </a:spcAft>
            </a:pPr>
            <a:fld id="{2A70D941-57F8-4881-9B87-49647FCDA0D6}" type="slidenum">
              <a:rPr lang="en-US" smtClean="0"/>
              <a:pPr>
                <a:spcAft>
                  <a:spcPts val="600"/>
                </a:spcAft>
              </a:pPr>
              <a:t>14</a:t>
            </a:fld>
            <a:endParaRPr lang="en-US"/>
          </a:p>
        </p:txBody>
      </p:sp>
      <p:pic>
        <p:nvPicPr>
          <p:cNvPr id="7" name="Picture 6">
            <a:extLst>
              <a:ext uri="{FF2B5EF4-FFF2-40B4-BE49-F238E27FC236}">
                <a16:creationId xmlns:a16="http://schemas.microsoft.com/office/drawing/2014/main" id="{67858B05-1180-4ED3-37EF-24E9DCCA0D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37221" y="3314535"/>
            <a:ext cx="5741992" cy="1421142"/>
          </a:xfrm>
          <a:prstGeom prst="rect">
            <a:avLst/>
          </a:prstGeom>
          <a:noFill/>
        </p:spPr>
      </p:pic>
    </p:spTree>
    <p:extLst>
      <p:ext uri="{BB962C8B-B14F-4D97-AF65-F5344CB8AC3E}">
        <p14:creationId xmlns:p14="http://schemas.microsoft.com/office/powerpoint/2010/main" val="6729868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46379-2192-90A0-4C60-B9195FA28B08}"/>
              </a:ext>
            </a:extLst>
          </p:cNvPr>
          <p:cNvSpPr>
            <a:spLocks noGrp="1"/>
          </p:cNvSpPr>
          <p:nvPr>
            <p:ph type="title"/>
          </p:nvPr>
        </p:nvSpPr>
        <p:spPr/>
        <p:txBody>
          <a:bodyPr anchor="b">
            <a:normAutofit/>
          </a:bodyPr>
          <a:lstStyle/>
          <a:p>
            <a:r>
              <a:rPr lang="en-US" dirty="0"/>
              <a:t>Step No. 7: Enrichment Analysis (EA) </a:t>
            </a:r>
          </a:p>
        </p:txBody>
      </p:sp>
      <p:sp>
        <p:nvSpPr>
          <p:cNvPr id="3" name="Content Placeholder 2">
            <a:extLst>
              <a:ext uri="{FF2B5EF4-FFF2-40B4-BE49-F238E27FC236}">
                <a16:creationId xmlns:a16="http://schemas.microsoft.com/office/drawing/2014/main" id="{AF2495D3-5A72-433C-1A36-AB76FFA7E042}"/>
              </a:ext>
            </a:extLst>
          </p:cNvPr>
          <p:cNvSpPr>
            <a:spLocks noGrp="1"/>
          </p:cNvSpPr>
          <p:nvPr>
            <p:ph sz="quarter" idx="14"/>
          </p:nvPr>
        </p:nvSpPr>
        <p:spPr>
          <a:xfrm>
            <a:off x="615697" y="2315569"/>
            <a:ext cx="3657600" cy="2554570"/>
          </a:xfrm>
        </p:spPr>
        <p:txBody>
          <a:bodyPr>
            <a:normAutofit/>
          </a:bodyPr>
          <a:lstStyle/>
          <a:p>
            <a:r>
              <a:rPr lang="en-US" dirty="0">
                <a:latin typeface="Times New Roman" panose="02020603050405020304" pitchFamily="18" charset="0"/>
                <a:cs typeface="Times New Roman" panose="02020603050405020304" pitchFamily="18" charset="0"/>
              </a:rPr>
              <a:t>Running the pathway enrichment analysis on clean gene symbol lists. </a:t>
            </a:r>
            <a:r>
              <a:rPr lang="en-US" dirty="0" err="1">
                <a:latin typeface="Times New Roman" panose="02020603050405020304" pitchFamily="18" charset="0"/>
                <a:cs typeface="Times New Roman" panose="02020603050405020304" pitchFamily="18" charset="0"/>
              </a:rPr>
              <a:t>TCGAanalyze_EAcomplete</a:t>
            </a:r>
            <a:r>
              <a:rPr lang="en-US" dirty="0">
                <a:latin typeface="Times New Roman" panose="02020603050405020304" pitchFamily="18" charset="0"/>
                <a:cs typeface="Times New Roman" panose="02020603050405020304" pitchFamily="18" charset="0"/>
              </a:rPr>
              <a:t> automatically checks the genes against the Gene Ontology (GO) databases (Biological Process, Cellular Component, Molecular Function) and the KEGG pathway database to see if the DEGs cluster into specific biological functions (like "cell cycle regulation" or "apoptosis").</a:t>
            </a:r>
          </a:p>
        </p:txBody>
      </p:sp>
      <p:sp>
        <p:nvSpPr>
          <p:cNvPr id="4" name="Date Placeholder 3">
            <a:extLst>
              <a:ext uri="{FF2B5EF4-FFF2-40B4-BE49-F238E27FC236}">
                <a16:creationId xmlns:a16="http://schemas.microsoft.com/office/drawing/2014/main" id="{A7BFF00E-82BA-882E-C311-29D6979E1F0E}"/>
              </a:ext>
            </a:extLst>
          </p:cNvPr>
          <p:cNvSpPr>
            <a:spLocks noGrp="1"/>
          </p:cNvSpPr>
          <p:nvPr>
            <p:ph type="dt" sz="half" idx="15"/>
          </p:nvPr>
        </p:nvSpPr>
        <p:spPr/>
        <p:txBody>
          <a:bodyPr anchor="ctr">
            <a:normAutofit/>
          </a:bodyPr>
          <a:lstStyle/>
          <a:p>
            <a:pPr>
              <a:spcAft>
                <a:spcPts val="600"/>
              </a:spcAft>
            </a:pPr>
            <a:r>
              <a:rPr lang="en-US"/>
              <a:t>9/4/2026</a:t>
            </a:r>
          </a:p>
        </p:txBody>
      </p:sp>
      <p:sp>
        <p:nvSpPr>
          <p:cNvPr id="5" name="Slide Number Placeholder 4">
            <a:extLst>
              <a:ext uri="{FF2B5EF4-FFF2-40B4-BE49-F238E27FC236}">
                <a16:creationId xmlns:a16="http://schemas.microsoft.com/office/drawing/2014/main" id="{5CC51284-61DA-5F84-C73A-44B7F8428679}"/>
              </a:ext>
            </a:extLst>
          </p:cNvPr>
          <p:cNvSpPr>
            <a:spLocks noGrp="1"/>
          </p:cNvSpPr>
          <p:nvPr>
            <p:ph type="sldNum" sz="quarter" idx="17"/>
          </p:nvPr>
        </p:nvSpPr>
        <p:spPr/>
        <p:txBody>
          <a:bodyPr anchor="ctr">
            <a:normAutofit/>
          </a:bodyPr>
          <a:lstStyle/>
          <a:p>
            <a:pPr>
              <a:spcAft>
                <a:spcPts val="600"/>
              </a:spcAft>
            </a:pPr>
            <a:fld id="{2A70D941-57F8-4881-9B87-49647FCDA0D6}" type="slidenum">
              <a:rPr lang="en-US" smtClean="0"/>
              <a:pPr>
                <a:spcAft>
                  <a:spcPts val="600"/>
                </a:spcAft>
              </a:pPr>
              <a:t>15</a:t>
            </a:fld>
            <a:endParaRPr lang="en-US"/>
          </a:p>
        </p:txBody>
      </p:sp>
      <p:pic>
        <p:nvPicPr>
          <p:cNvPr id="7" name="Picture 6">
            <a:extLst>
              <a:ext uri="{FF2B5EF4-FFF2-40B4-BE49-F238E27FC236}">
                <a16:creationId xmlns:a16="http://schemas.microsoft.com/office/drawing/2014/main" id="{7521EDB5-4E3C-BD71-DC7D-26F2433BAA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95088" y="1987860"/>
            <a:ext cx="7296912" cy="2882279"/>
          </a:xfrm>
          <a:prstGeom prst="rect">
            <a:avLst/>
          </a:prstGeom>
          <a:noFill/>
        </p:spPr>
      </p:pic>
    </p:spTree>
    <p:extLst>
      <p:ext uri="{BB962C8B-B14F-4D97-AF65-F5344CB8AC3E}">
        <p14:creationId xmlns:p14="http://schemas.microsoft.com/office/powerpoint/2010/main" val="2575522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D1AC7-29B1-E99E-2075-B2079E6A87DF}"/>
              </a:ext>
            </a:extLst>
          </p:cNvPr>
          <p:cNvSpPr>
            <a:spLocks noGrp="1"/>
          </p:cNvSpPr>
          <p:nvPr>
            <p:ph type="title"/>
          </p:nvPr>
        </p:nvSpPr>
        <p:spPr/>
        <p:txBody>
          <a:bodyPr anchor="b">
            <a:normAutofit/>
          </a:bodyPr>
          <a:lstStyle/>
          <a:p>
            <a:r>
              <a:rPr lang="en-US" dirty="0"/>
              <a:t>The visualization step</a:t>
            </a:r>
            <a:br>
              <a:rPr lang="en-US" dirty="0"/>
            </a:br>
            <a:r>
              <a:rPr lang="en-US" dirty="0"/>
              <a:t>(Bar Plot)</a:t>
            </a:r>
          </a:p>
        </p:txBody>
      </p:sp>
      <p:sp>
        <p:nvSpPr>
          <p:cNvPr id="3" name="Content Placeholder 2">
            <a:extLst>
              <a:ext uri="{FF2B5EF4-FFF2-40B4-BE49-F238E27FC236}">
                <a16:creationId xmlns:a16="http://schemas.microsoft.com/office/drawing/2014/main" id="{6744B7F1-86DD-F82C-3C1A-1CDA3AE6C87B}"/>
              </a:ext>
            </a:extLst>
          </p:cNvPr>
          <p:cNvSpPr>
            <a:spLocks noGrp="1"/>
          </p:cNvSpPr>
          <p:nvPr>
            <p:ph sz="quarter" idx="14"/>
          </p:nvPr>
        </p:nvSpPr>
        <p:spPr>
          <a:xfrm>
            <a:off x="516215" y="2027548"/>
            <a:ext cx="4494063" cy="2183505"/>
          </a:xfrm>
        </p:spPr>
        <p:txBody>
          <a:bodyPr>
            <a:normAutofit/>
          </a:bodyPr>
          <a:lstStyle/>
          <a:p>
            <a:r>
              <a:rPr lang="en-US" dirty="0">
                <a:latin typeface="Times New Roman" panose="02020603050405020304" pitchFamily="18" charset="0"/>
                <a:cs typeface="Times New Roman" panose="02020603050405020304" pitchFamily="18" charset="0"/>
              </a:rPr>
              <a:t>This function takes the complex mathematical output of the enrichment analysis (</a:t>
            </a:r>
            <a:r>
              <a:rPr lang="en-US" dirty="0" err="1">
                <a:latin typeface="Times New Roman" panose="02020603050405020304" pitchFamily="18" charset="0"/>
                <a:cs typeface="Times New Roman" panose="02020603050405020304" pitchFamily="18" charset="0"/>
              </a:rPr>
              <a:t>enrichment_UP</a:t>
            </a:r>
            <a:r>
              <a:rPr lang="en-US" dirty="0">
                <a:latin typeface="Times New Roman" panose="02020603050405020304" pitchFamily="18" charset="0"/>
                <a:cs typeface="Times New Roman" panose="02020603050405020304" pitchFamily="18" charset="0"/>
              </a:rPr>
              <a:t>). It generates a clean, multi-panel PDF bar chart showing the top 10 (</a:t>
            </a:r>
            <a:r>
              <a:rPr lang="en-US" dirty="0" err="1">
                <a:latin typeface="Times New Roman" panose="02020603050405020304" pitchFamily="18" charset="0"/>
                <a:cs typeface="Times New Roman" panose="02020603050405020304" pitchFamily="18" charset="0"/>
              </a:rPr>
              <a:t>nBar</a:t>
            </a:r>
            <a:r>
              <a:rPr lang="en-US" dirty="0">
                <a:latin typeface="Times New Roman" panose="02020603050405020304" pitchFamily="18" charset="0"/>
                <a:cs typeface="Times New Roman" panose="02020603050405020304" pitchFamily="18" charset="0"/>
              </a:rPr>
              <a:t> = 10) most significant pathways for each category (BP, CC, MF, KEGG). The second block of code does the same thing, generating a separate PDF for the </a:t>
            </a:r>
            <a:r>
              <a:rPr lang="en-US" dirty="0" err="1">
                <a:latin typeface="Times New Roman" panose="02020603050405020304" pitchFamily="18" charset="0"/>
                <a:cs typeface="Times New Roman" panose="02020603050405020304" pitchFamily="18" charset="0"/>
              </a:rPr>
              <a:t>enrichment_DOWN</a:t>
            </a:r>
            <a:r>
              <a:rPr lang="en-US" dirty="0">
                <a:latin typeface="Times New Roman" panose="02020603050405020304" pitchFamily="18" charset="0"/>
                <a:cs typeface="Times New Roman" panose="02020603050405020304" pitchFamily="18" charset="0"/>
              </a:rPr>
              <a:t> results.</a:t>
            </a:r>
            <a:endParaRPr lang="en-US" dirty="0">
              <a:effectLst/>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94B4F179-EE8B-0BC7-A8FE-40C72B414A31}"/>
              </a:ext>
            </a:extLst>
          </p:cNvPr>
          <p:cNvSpPr>
            <a:spLocks noGrp="1"/>
          </p:cNvSpPr>
          <p:nvPr>
            <p:ph type="dt" sz="half" idx="10"/>
          </p:nvPr>
        </p:nvSpPr>
        <p:spPr/>
        <p:txBody>
          <a:bodyPr anchor="ctr">
            <a:normAutofit/>
          </a:bodyPr>
          <a:lstStyle/>
          <a:p>
            <a:pPr>
              <a:spcAft>
                <a:spcPts val="600"/>
              </a:spcAft>
            </a:pPr>
            <a:r>
              <a:rPr lang="en-US"/>
              <a:t>9/4/2026</a:t>
            </a:r>
          </a:p>
        </p:txBody>
      </p:sp>
      <p:sp>
        <p:nvSpPr>
          <p:cNvPr id="5" name="Slide Number Placeholder 4">
            <a:extLst>
              <a:ext uri="{FF2B5EF4-FFF2-40B4-BE49-F238E27FC236}">
                <a16:creationId xmlns:a16="http://schemas.microsoft.com/office/drawing/2014/main" id="{A7B38DDC-B3A1-2B31-DF25-D1745EF6093C}"/>
              </a:ext>
            </a:extLst>
          </p:cNvPr>
          <p:cNvSpPr>
            <a:spLocks noGrp="1"/>
          </p:cNvSpPr>
          <p:nvPr>
            <p:ph type="sldNum" sz="quarter" idx="12"/>
          </p:nvPr>
        </p:nvSpPr>
        <p:spPr/>
        <p:txBody>
          <a:bodyPr anchor="ctr">
            <a:normAutofit/>
          </a:bodyPr>
          <a:lstStyle/>
          <a:p>
            <a:pPr>
              <a:spcAft>
                <a:spcPts val="600"/>
              </a:spcAft>
            </a:pPr>
            <a:fld id="{2A70D941-57F8-4881-9B87-49647FCDA0D6}" type="slidenum">
              <a:rPr lang="en-US" smtClean="0"/>
              <a:pPr>
                <a:spcAft>
                  <a:spcPts val="600"/>
                </a:spcAft>
              </a:pPr>
              <a:t>16</a:t>
            </a:fld>
            <a:endParaRPr lang="en-US"/>
          </a:p>
        </p:txBody>
      </p:sp>
      <p:pic>
        <p:nvPicPr>
          <p:cNvPr id="7" name="Picture 6">
            <a:extLst>
              <a:ext uri="{FF2B5EF4-FFF2-40B4-BE49-F238E27FC236}">
                <a16:creationId xmlns:a16="http://schemas.microsoft.com/office/drawing/2014/main" id="{7DB8AB9B-D415-70F3-C7ED-CA9ECF70F0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58928" y="1518076"/>
            <a:ext cx="6533072" cy="3821848"/>
          </a:xfrm>
          <a:prstGeom prst="rect">
            <a:avLst/>
          </a:prstGeom>
          <a:noFill/>
        </p:spPr>
      </p:pic>
    </p:spTree>
    <p:extLst>
      <p:ext uri="{BB962C8B-B14F-4D97-AF65-F5344CB8AC3E}">
        <p14:creationId xmlns:p14="http://schemas.microsoft.com/office/powerpoint/2010/main" val="34302172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1FA94-FB84-E49D-7A40-E396966E14F6}"/>
              </a:ext>
            </a:extLst>
          </p:cNvPr>
          <p:cNvSpPr>
            <a:spLocks noGrp="1"/>
          </p:cNvSpPr>
          <p:nvPr>
            <p:ph type="title"/>
          </p:nvPr>
        </p:nvSpPr>
        <p:spPr/>
        <p:txBody>
          <a:bodyPr/>
          <a:lstStyle/>
          <a:p>
            <a:r>
              <a:rPr lang="en-US" dirty="0"/>
              <a:t>Finally, we did it!</a:t>
            </a:r>
          </a:p>
        </p:txBody>
      </p:sp>
      <p:sp>
        <p:nvSpPr>
          <p:cNvPr id="4" name="Date Placeholder 3">
            <a:extLst>
              <a:ext uri="{FF2B5EF4-FFF2-40B4-BE49-F238E27FC236}">
                <a16:creationId xmlns:a16="http://schemas.microsoft.com/office/drawing/2014/main" id="{A691255B-2D4E-B934-6F74-E58F55BFD871}"/>
              </a:ext>
            </a:extLst>
          </p:cNvPr>
          <p:cNvSpPr>
            <a:spLocks noGrp="1"/>
          </p:cNvSpPr>
          <p:nvPr>
            <p:ph type="dt" sz="half" idx="10"/>
          </p:nvPr>
        </p:nvSpPr>
        <p:spPr/>
        <p:txBody>
          <a:bodyPr/>
          <a:lstStyle/>
          <a:p>
            <a:r>
              <a:rPr lang="en-US"/>
              <a:t>9/4/2026</a:t>
            </a:r>
          </a:p>
        </p:txBody>
      </p:sp>
      <p:sp>
        <p:nvSpPr>
          <p:cNvPr id="5" name="Slide Number Placeholder 4">
            <a:extLst>
              <a:ext uri="{FF2B5EF4-FFF2-40B4-BE49-F238E27FC236}">
                <a16:creationId xmlns:a16="http://schemas.microsoft.com/office/drawing/2014/main" id="{A53B8CC7-90FF-CB50-3B28-1CD558F9AFB3}"/>
              </a:ext>
            </a:extLst>
          </p:cNvPr>
          <p:cNvSpPr>
            <a:spLocks noGrp="1"/>
          </p:cNvSpPr>
          <p:nvPr>
            <p:ph type="sldNum" sz="quarter" idx="12"/>
          </p:nvPr>
        </p:nvSpPr>
        <p:spPr/>
        <p:txBody>
          <a:bodyPr/>
          <a:lstStyle/>
          <a:p>
            <a:fld id="{2A70D941-57F8-4881-9B87-49647FCDA0D6}" type="slidenum">
              <a:rPr lang="en-US" smtClean="0"/>
              <a:t>17</a:t>
            </a:fld>
            <a:endParaRPr lang="en-US"/>
          </a:p>
        </p:txBody>
      </p:sp>
      <p:sp>
        <p:nvSpPr>
          <p:cNvPr id="6" name="TextBox 5">
            <a:extLst>
              <a:ext uri="{FF2B5EF4-FFF2-40B4-BE49-F238E27FC236}">
                <a16:creationId xmlns:a16="http://schemas.microsoft.com/office/drawing/2014/main" id="{EA4EFC89-81DC-56D6-2B52-1FBD61ABE870}"/>
              </a:ext>
            </a:extLst>
          </p:cNvPr>
          <p:cNvSpPr txBox="1"/>
          <p:nvPr/>
        </p:nvSpPr>
        <p:spPr>
          <a:xfrm>
            <a:off x="1687438" y="3059668"/>
            <a:ext cx="955364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Now we have performed the exact analysis in the paper, but on a different dataset!</a:t>
            </a:r>
            <a:endParaRPr lang="en-US" b="1"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74969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01F35-6F5E-8ECD-38CC-3394B7433A48}"/>
              </a:ext>
            </a:extLst>
          </p:cNvPr>
          <p:cNvSpPr>
            <a:spLocks noGrp="1"/>
          </p:cNvSpPr>
          <p:nvPr>
            <p:ph type="title"/>
          </p:nvPr>
        </p:nvSpPr>
        <p:spPr/>
        <p:txBody>
          <a:bodyPr/>
          <a:lstStyle/>
          <a:p>
            <a:r>
              <a:rPr lang="en-US" dirty="0"/>
              <a:t>acknowledgement</a:t>
            </a:r>
          </a:p>
        </p:txBody>
      </p:sp>
      <p:sp>
        <p:nvSpPr>
          <p:cNvPr id="4" name="Date Placeholder 3">
            <a:extLst>
              <a:ext uri="{FF2B5EF4-FFF2-40B4-BE49-F238E27FC236}">
                <a16:creationId xmlns:a16="http://schemas.microsoft.com/office/drawing/2014/main" id="{8406D397-9F45-2E81-DB77-BC2DB062F52D}"/>
              </a:ext>
            </a:extLst>
          </p:cNvPr>
          <p:cNvSpPr>
            <a:spLocks noGrp="1"/>
          </p:cNvSpPr>
          <p:nvPr>
            <p:ph type="dt" sz="half" idx="10"/>
          </p:nvPr>
        </p:nvSpPr>
        <p:spPr/>
        <p:txBody>
          <a:bodyPr/>
          <a:lstStyle/>
          <a:p>
            <a:r>
              <a:rPr lang="en-US"/>
              <a:t>9/4/2026</a:t>
            </a:r>
          </a:p>
        </p:txBody>
      </p:sp>
      <p:sp>
        <p:nvSpPr>
          <p:cNvPr id="5" name="Slide Number Placeholder 4">
            <a:extLst>
              <a:ext uri="{FF2B5EF4-FFF2-40B4-BE49-F238E27FC236}">
                <a16:creationId xmlns:a16="http://schemas.microsoft.com/office/drawing/2014/main" id="{3F8782A8-029E-1688-688A-F6F2E9A16BDC}"/>
              </a:ext>
            </a:extLst>
          </p:cNvPr>
          <p:cNvSpPr>
            <a:spLocks noGrp="1"/>
          </p:cNvSpPr>
          <p:nvPr>
            <p:ph type="sldNum" sz="quarter" idx="12"/>
          </p:nvPr>
        </p:nvSpPr>
        <p:spPr/>
        <p:txBody>
          <a:bodyPr/>
          <a:lstStyle/>
          <a:p>
            <a:fld id="{2A70D941-57F8-4881-9B87-49647FCDA0D6}" type="slidenum">
              <a:rPr lang="en-US" smtClean="0"/>
              <a:t>18</a:t>
            </a:fld>
            <a:endParaRPr lang="en-US"/>
          </a:p>
        </p:txBody>
      </p:sp>
      <p:sp>
        <p:nvSpPr>
          <p:cNvPr id="7" name="TextBox 6">
            <a:extLst>
              <a:ext uri="{FF2B5EF4-FFF2-40B4-BE49-F238E27FC236}">
                <a16:creationId xmlns:a16="http://schemas.microsoft.com/office/drawing/2014/main" id="{1BE342EA-FC7A-DC2D-83ED-7A8024BE68B4}"/>
              </a:ext>
            </a:extLst>
          </p:cNvPr>
          <p:cNvSpPr txBox="1"/>
          <p:nvPr/>
        </p:nvSpPr>
        <p:spPr>
          <a:xfrm>
            <a:off x="2042663" y="2744445"/>
            <a:ext cx="8101781" cy="1600438"/>
          </a:xfrm>
          <a:prstGeom prst="rect">
            <a:avLst/>
          </a:prstGeom>
          <a:noFill/>
        </p:spPr>
        <p:txBody>
          <a:bodyPr wrap="square" rtlCol="0">
            <a:spAutoFit/>
          </a:bodyPr>
          <a:lstStyle/>
          <a:p>
            <a:pPr algn="ctr"/>
            <a:r>
              <a:rPr lang="en-US" sz="2000" b="1" dirty="0">
                <a:latin typeface="Canva Sans Bold" panose="020B0604020202020204" charset="0"/>
              </a:rPr>
              <a:t>Special thanks to Dr. Suhaila Saleh, </a:t>
            </a:r>
          </a:p>
          <a:p>
            <a:pPr algn="ctr"/>
            <a:r>
              <a:rPr lang="en-US" sz="2000" b="1" dirty="0">
                <a:latin typeface="Canva Sans Bold" panose="020B0604020202020204" charset="0"/>
              </a:rPr>
              <a:t>Cell Culture Research Assistant at Nawah Scientific, whose support and insightful feedback greatly enhanced the content and structure of this presentation</a:t>
            </a:r>
            <a:r>
              <a:rPr lang="en-US" sz="2000" dirty="0">
                <a:latin typeface="Canva Sans Bold" panose="020B0604020202020204" charset="0"/>
              </a:rPr>
              <a:t>.</a:t>
            </a:r>
          </a:p>
          <a:p>
            <a:endParaRPr lang="en-US" dirty="0"/>
          </a:p>
        </p:txBody>
      </p:sp>
    </p:spTree>
    <p:extLst>
      <p:ext uri="{BB962C8B-B14F-4D97-AF65-F5344CB8AC3E}">
        <p14:creationId xmlns:p14="http://schemas.microsoft.com/office/powerpoint/2010/main" val="6338151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BCD405F-01B3-71DC-12B8-B00E4C018EE4}"/>
              </a:ext>
            </a:extLst>
          </p:cNvPr>
          <p:cNvSpPr txBox="1"/>
          <p:nvPr/>
        </p:nvSpPr>
        <p:spPr>
          <a:xfrm>
            <a:off x="137159" y="338328"/>
            <a:ext cx="8168640" cy="4462272"/>
          </a:xfrm>
          <a:prstGeom prst="rect">
            <a:avLst/>
          </a:prstGeom>
          <a:noFill/>
        </p:spPr>
        <p:txBody>
          <a:bodyPr vert="horz" lIns="91440" tIns="45720" rIns="91440" bIns="137160" rtlCol="0" anchor="t">
            <a:normAutofit/>
          </a:bodyPr>
          <a:lstStyle/>
          <a:p>
            <a:pPr>
              <a:lnSpc>
                <a:spcPct val="80000"/>
              </a:lnSpc>
              <a:spcBef>
                <a:spcPct val="0"/>
              </a:spcBef>
              <a:spcAft>
                <a:spcPts val="600"/>
              </a:spcAft>
            </a:pPr>
            <a:r>
              <a:rPr lang="en-US" sz="9600" b="1" kern="1200" cap="all" spc="-100" baseline="0" dirty="0">
                <a:solidFill>
                  <a:schemeClr val="accent1"/>
                </a:solidFill>
                <a:latin typeface="+mj-lt"/>
                <a:ea typeface="+mj-ea"/>
                <a:cs typeface="+mj-cs"/>
              </a:rPr>
              <a:t>Thank You!</a:t>
            </a:r>
          </a:p>
        </p:txBody>
      </p:sp>
      <p:sp>
        <p:nvSpPr>
          <p:cNvPr id="2" name="Date Placeholder 1">
            <a:extLst>
              <a:ext uri="{FF2B5EF4-FFF2-40B4-BE49-F238E27FC236}">
                <a16:creationId xmlns:a16="http://schemas.microsoft.com/office/drawing/2014/main" id="{917DA79C-681C-F089-0DE2-BCC58153C484}"/>
              </a:ext>
            </a:extLst>
          </p:cNvPr>
          <p:cNvSpPr>
            <a:spLocks noGrp="1"/>
          </p:cNvSpPr>
          <p:nvPr>
            <p:ph type="dt" sz="half" idx="10"/>
          </p:nvPr>
        </p:nvSpPr>
        <p:spPr>
          <a:xfrm>
            <a:off x="10058400" y="6029868"/>
            <a:ext cx="1182686" cy="365125"/>
          </a:xfrm>
        </p:spPr>
        <p:txBody>
          <a:bodyPr vert="horz" lIns="91440" tIns="45720" rIns="91440" bIns="45720" rtlCol="0" anchor="ctr">
            <a:normAutofit/>
          </a:bodyPr>
          <a:lstStyle/>
          <a:p>
            <a:pPr>
              <a:spcAft>
                <a:spcPts val="600"/>
              </a:spcAft>
            </a:pPr>
            <a:r>
              <a:rPr lang="en-US" kern="1200" cap="all" baseline="0">
                <a:latin typeface="+mn-lt"/>
                <a:ea typeface="+mn-ea"/>
                <a:cs typeface="+mn-cs"/>
              </a:rPr>
              <a:t>9/4/2026</a:t>
            </a:r>
          </a:p>
        </p:txBody>
      </p:sp>
      <p:sp>
        <p:nvSpPr>
          <p:cNvPr id="3" name="Slide Number Placeholder 2">
            <a:extLst>
              <a:ext uri="{FF2B5EF4-FFF2-40B4-BE49-F238E27FC236}">
                <a16:creationId xmlns:a16="http://schemas.microsoft.com/office/drawing/2014/main" id="{A8F1979A-B854-279F-8B61-F383C7892234}"/>
              </a:ext>
            </a:extLst>
          </p:cNvPr>
          <p:cNvSpPr>
            <a:spLocks noGrp="1"/>
          </p:cNvSpPr>
          <p:nvPr>
            <p:ph type="sldNum" sz="quarter" idx="12"/>
          </p:nvPr>
        </p:nvSpPr>
        <p:spPr>
          <a:xfrm>
            <a:off x="11233434" y="6029868"/>
            <a:ext cx="429372" cy="365125"/>
          </a:xfrm>
        </p:spPr>
        <p:txBody>
          <a:bodyPr vert="horz" lIns="91440" tIns="45720" rIns="91440" bIns="45720" rtlCol="0" anchor="ctr">
            <a:normAutofit/>
          </a:bodyPr>
          <a:lstStyle/>
          <a:p>
            <a:pPr>
              <a:spcAft>
                <a:spcPts val="600"/>
              </a:spcAft>
            </a:pPr>
            <a:fld id="{2A70D941-57F8-4881-9B87-49647FCDA0D6}" type="slidenum">
              <a:rPr lang="en-US" smtClean="0"/>
              <a:pPr>
                <a:spcAft>
                  <a:spcPts val="600"/>
                </a:spcAft>
              </a:pPr>
              <a:t>19</a:t>
            </a:fld>
            <a:endParaRPr lang="en-US" dirty="0"/>
          </a:p>
        </p:txBody>
      </p:sp>
    </p:spTree>
    <p:extLst>
      <p:ext uri="{BB962C8B-B14F-4D97-AF65-F5344CB8AC3E}">
        <p14:creationId xmlns:p14="http://schemas.microsoft.com/office/powerpoint/2010/main" val="4002959920"/>
      </p:ext>
    </p:extLst>
  </p:cSld>
  <p:clrMapOvr>
    <a:masterClrMapping/>
  </p:clrMapOvr>
</p:sld>
</file>

<file path=ppt/theme/theme1.xml><?xml version="1.0" encoding="utf-8"?>
<a:theme xmlns:a="http://schemas.openxmlformats.org/drawingml/2006/main" name="Orange Experience">
  <a:themeElements>
    <a:clrScheme name="Orange Experience">
      <a:dk1>
        <a:srgbClr val="131313"/>
      </a:dk1>
      <a:lt1>
        <a:sysClr val="window" lastClr="FFFFFF"/>
      </a:lt1>
      <a:dk2>
        <a:srgbClr val="444742"/>
      </a:dk2>
      <a:lt2>
        <a:srgbClr val="EDECE9"/>
      </a:lt2>
      <a:accent1>
        <a:srgbClr val="ED6845"/>
      </a:accent1>
      <a:accent2>
        <a:srgbClr val="F48A56"/>
      </a:accent2>
      <a:accent3>
        <a:srgbClr val="9FA295"/>
      </a:accent3>
      <a:accent4>
        <a:srgbClr val="5B6E74"/>
      </a:accent4>
      <a:accent5>
        <a:srgbClr val="6E7868"/>
      </a:accent5>
      <a:accent6>
        <a:srgbClr val="A1AAAA"/>
      </a:accent6>
      <a:hlink>
        <a:srgbClr val="F05814"/>
      </a:hlink>
      <a:folHlink>
        <a:srgbClr val="E99401"/>
      </a:folHlink>
    </a:clrScheme>
    <a:fontScheme name="Custom 40">
      <a:majorFont>
        <a:latin typeface="Oswald SemiBold"/>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range experience" id="{9BAA8FFB-1EEF-49AC-B7FF-0F37799585E9}" vid="{6523F788-A6E6-47B0-B3C7-625411BE5A1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Orange Experience</Template>
  <TotalTime>236</TotalTime>
  <Words>1852</Words>
  <Application>Microsoft Office PowerPoint</Application>
  <PresentationFormat>Widescreen</PresentationFormat>
  <Paragraphs>126</Paragraphs>
  <Slides>19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Aptos</vt:lpstr>
      <vt:lpstr>Arial</vt:lpstr>
      <vt:lpstr>Calibri</vt:lpstr>
      <vt:lpstr>Cambria Math</vt:lpstr>
      <vt:lpstr>Canva Sans Bold</vt:lpstr>
      <vt:lpstr>Oswald SemiBold</vt:lpstr>
      <vt:lpstr>Times New Roman</vt:lpstr>
      <vt:lpstr>Univers Condensed Light</vt:lpstr>
      <vt:lpstr>Orange Experience</vt:lpstr>
      <vt:lpstr>Graduation Project</vt:lpstr>
      <vt:lpstr>Disease we will discuses: Lung Adenocarcinoma (LUAD)</vt:lpstr>
      <vt:lpstr>What is The Cancer Genome Atlas (TCGA) ?</vt:lpstr>
      <vt:lpstr>Paper: TCGAbiolinks: an R/Bioconductor package for integrative analysis of TCGA data </vt:lpstr>
      <vt:lpstr>Now let’s see how this package will help us!</vt:lpstr>
      <vt:lpstr>Step No. 1: Install and load required packages</vt:lpstr>
      <vt:lpstr>Step No. 2: Query the Genomic Data Commons (GDC)</vt:lpstr>
      <vt:lpstr>Just a little modification of the query</vt:lpstr>
      <vt:lpstr>Step No. 3: Download and prepare the data</vt:lpstr>
      <vt:lpstr>Step No. 4: Pre-processing &amp; filtering</vt:lpstr>
      <vt:lpstr>Step No. 5: Differential Expression Analysis (DEA)</vt:lpstr>
      <vt:lpstr>The visualization step (Volcano Plot)</vt:lpstr>
      <vt:lpstr>Step No. 6: Prepare gene lists (up and down regulated)</vt:lpstr>
      <vt:lpstr>Preparing data for Enrichment Analysis (EA)</vt:lpstr>
      <vt:lpstr>Step No. 7: Enrichment Analysis (EA) </vt:lpstr>
      <vt:lpstr>The visualization step (Bar Plot)</vt:lpstr>
      <vt:lpstr>Finally, we did it!</vt:lpstr>
      <vt:lpstr>acknowledgement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Graduation Project</dc:title>
  <dc:creator>Omar Khaled</dc:creator>
  <cp:lastModifiedBy>Omar Khaled</cp:lastModifiedBy>
  <cp:revision>4</cp:revision>
  <dcterms:created xsi:type="dcterms:W3CDTF">2026-09-04T11:54:50Z</dcterms:created>
  <dcterms:modified xsi:type="dcterms:W3CDTF">2026-09-07T06:25:44Z</dcterms:modified>
</cp:coreProperties>
</file>